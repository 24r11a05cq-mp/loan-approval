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etrona Bold" charset="1" panose="00000000000000000000"/>
      <p:regular r:id="rId19"/>
    </p:embeddedFont>
    <p:embeddedFont>
      <p:font typeface="Inter" charset="1" panose="02000503000000020004"/>
      <p:regular r:id="rId20"/>
    </p:embeddedFont>
    <p:embeddedFont>
      <p:font typeface="Inter Bold" charset="1" panose="02000503000000020004"/>
      <p:regular r:id="rId21"/>
    </p:embeddedFont>
    <p:embeddedFont>
      <p:font typeface="Petrona Light"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fonts/font25.fntdata" Type="http://schemas.openxmlformats.org/officeDocument/2006/relationships/font"/><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notesSlides/notesSlide3.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notesSlides/notesSlide5.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16" Target="../media/image29.png" Type="http://schemas.openxmlformats.org/officeDocument/2006/relationships/image"/><Relationship Id="rId17" Target="../media/image30.svg" Type="http://schemas.openxmlformats.org/officeDocument/2006/relationships/image"/><Relationship Id="rId2" Target="../notesSlides/notesSlide6.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 Id="rId6" Target="../media/image3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 Id="rId6" Target="../media/image3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3318272"/>
            <a:ext cx="16303523" cy="852192"/>
          </a:xfrm>
          <a:prstGeom prst="rect">
            <a:avLst/>
          </a:prstGeom>
        </p:spPr>
        <p:txBody>
          <a:bodyPr anchor="t" rtlCol="false" tIns="0" lIns="0" bIns="0" rIns="0">
            <a:spAutoFit/>
          </a:bodyPr>
          <a:lstStyle/>
          <a:p>
            <a:pPr algn="l">
              <a:lnSpc>
                <a:spcPts val="6364"/>
              </a:lnSpc>
            </a:pPr>
            <a:r>
              <a:rPr lang="en-US" sz="5100" b="true">
                <a:solidFill>
                  <a:srgbClr val="000000"/>
                </a:solidFill>
                <a:latin typeface="Petrona Bold"/>
                <a:ea typeface="Petrona Bold"/>
                <a:cs typeface="Petrona Bold"/>
                <a:sym typeface="Petrona Bold"/>
              </a:rPr>
              <a:t>Loan Approval Prediction</a:t>
            </a:r>
          </a:p>
        </p:txBody>
      </p:sp>
      <p:sp>
        <p:nvSpPr>
          <p:cNvPr name="TextBox 9" id="9"/>
          <p:cNvSpPr txBox="true"/>
          <p:nvPr/>
        </p:nvSpPr>
        <p:spPr>
          <a:xfrm rot="0">
            <a:off x="992238" y="4590307"/>
            <a:ext cx="17217923" cy="473126"/>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Machine Learning Project</a:t>
            </a:r>
          </a:p>
        </p:txBody>
      </p:sp>
      <p:sp>
        <p:nvSpPr>
          <p:cNvPr name="TextBox 10" id="10"/>
          <p:cNvSpPr txBox="true"/>
          <p:nvPr/>
        </p:nvSpPr>
        <p:spPr>
          <a:xfrm rot="0">
            <a:off x="992238" y="5285337"/>
            <a:ext cx="16303523" cy="1645148"/>
          </a:xfrm>
          <a:prstGeom prst="rect">
            <a:avLst/>
          </a:prstGeom>
        </p:spPr>
        <p:txBody>
          <a:bodyPr anchor="t" rtlCol="false" tIns="0" lIns="0" bIns="0" rIns="0">
            <a:spAutoFit/>
          </a:bodyPr>
          <a:lstStyle/>
          <a:p>
            <a:pPr algn="l">
              <a:lnSpc>
                <a:spcPts val="2394"/>
              </a:lnSpc>
            </a:pPr>
            <a:r>
              <a:rPr lang="en-US" sz="1500">
                <a:solidFill>
                  <a:srgbClr val="272525"/>
                </a:solidFill>
                <a:latin typeface="Inter"/>
                <a:ea typeface="Inter"/>
                <a:cs typeface="Inter"/>
                <a:sym typeface="Inter"/>
              </a:rPr>
              <a:t>Submitted By : Pandit Moses </a:t>
            </a:r>
          </a:p>
          <a:p>
            <a:pPr algn="l">
              <a:lnSpc>
                <a:spcPts val="2394"/>
              </a:lnSpc>
            </a:pPr>
            <a:r>
              <a:rPr lang="en-US" sz="1500">
                <a:solidFill>
                  <a:srgbClr val="272525"/>
                </a:solidFill>
                <a:latin typeface="Inter"/>
                <a:ea typeface="Inter"/>
                <a:cs typeface="Inter"/>
                <a:sym typeface="Inter"/>
              </a:rPr>
              <a:t>Roll Number : 24R11A05CQ</a:t>
            </a:r>
          </a:p>
          <a:p>
            <a:pPr algn="l">
              <a:lnSpc>
                <a:spcPts val="2394"/>
              </a:lnSpc>
            </a:pPr>
            <a:r>
              <a:rPr lang="en-US" sz="1500">
                <a:solidFill>
                  <a:srgbClr val="272525"/>
                </a:solidFill>
                <a:latin typeface="Inter"/>
                <a:ea typeface="Inter"/>
                <a:cs typeface="Inter"/>
                <a:sym typeface="Inter"/>
              </a:rPr>
              <a:t>Department : Computer Science and Engineering</a:t>
            </a:r>
          </a:p>
          <a:p>
            <a:pPr algn="l">
              <a:lnSpc>
                <a:spcPts val="2394"/>
              </a:lnSpc>
            </a:pPr>
            <a:r>
              <a:rPr lang="en-US" sz="1500">
                <a:solidFill>
                  <a:srgbClr val="272525"/>
                </a:solidFill>
                <a:latin typeface="Inter"/>
                <a:ea typeface="Inter"/>
                <a:cs typeface="Inter"/>
                <a:sym typeface="Inter"/>
              </a:rPr>
              <a:t>College : </a:t>
            </a:r>
            <a:r>
              <a:rPr lang="en-US" sz="1500" b="true">
                <a:solidFill>
                  <a:srgbClr val="272525"/>
                </a:solidFill>
                <a:latin typeface="Inter Bold"/>
                <a:ea typeface="Inter Bold"/>
                <a:cs typeface="Inter Bold"/>
                <a:sym typeface="Inter Bold"/>
              </a:rPr>
              <a:t>Geethanjali College of Engineering and Technology</a:t>
            </a:r>
          </a:p>
          <a:p>
            <a:pPr algn="l">
              <a:lnSpc>
                <a:spcPts val="2394"/>
              </a:lnSpc>
            </a:pPr>
            <a:r>
              <a:rPr lang="en-US" sz="1500">
                <a:solidFill>
                  <a:srgbClr val="272525"/>
                </a:solidFill>
                <a:latin typeface="Inter"/>
                <a:ea typeface="Inter"/>
                <a:cs typeface="Inter"/>
                <a:sym typeface="Inter"/>
              </a:rPr>
              <a:t>Academic Year : 2026 - 2027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3607889"/>
            <a:ext cx="16303523" cy="679847"/>
          </a:xfrm>
          <a:prstGeom prst="rect">
            <a:avLst/>
          </a:prstGeom>
        </p:spPr>
        <p:txBody>
          <a:bodyPr anchor="t" rtlCol="false" tIns="0" lIns="0" bIns="0" rIns="0">
            <a:spAutoFit/>
          </a:bodyPr>
          <a:lstStyle/>
          <a:p>
            <a:pPr algn="l">
              <a:lnSpc>
                <a:spcPts val="5116"/>
              </a:lnSpc>
            </a:pPr>
            <a:r>
              <a:rPr lang="en-US" sz="4100" b="true">
                <a:solidFill>
                  <a:srgbClr val="000000"/>
                </a:solidFill>
                <a:latin typeface="Petrona Bold"/>
                <a:ea typeface="Petrona Bold"/>
                <a:cs typeface="Petrona Bold"/>
                <a:sym typeface="Petrona Bold"/>
              </a:rPr>
              <a:t>What is the Project</a:t>
            </a:r>
          </a:p>
        </p:txBody>
      </p:sp>
      <p:sp>
        <p:nvSpPr>
          <p:cNvPr name="TextBox 9" id="9"/>
          <p:cNvSpPr txBox="true"/>
          <p:nvPr/>
        </p:nvSpPr>
        <p:spPr>
          <a:xfrm rot="0">
            <a:off x="992238" y="4707579"/>
            <a:ext cx="16303523" cy="1942948"/>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 The goal is to predict whether an individual loan application will be approved or rejected using historical application data and supervised machine learning. This automated prediction supports consistent, fast underwriting decisions and reduces manual review workload. </a:t>
            </a:r>
          </a:p>
          <a:p>
            <a:pPr algn="l">
              <a:lnSpc>
                <a:spcPts val="3032"/>
              </a:lnSpc>
            </a:pPr>
            <a:r>
              <a:rPr lang="en-US" sz="1900">
                <a:solidFill>
                  <a:srgbClr val="272525"/>
                </a:solidFill>
                <a:latin typeface="Inter"/>
                <a:ea typeface="Inter"/>
                <a:cs typeface="Inter"/>
                <a:sym typeface="Inter"/>
              </a:rPr>
              <a:t> Why it matters: banks and credit teams need reliable, auditable decision support to accelerate processing, reduce operational costs, and improve fairness by relying on consistent rules learned from past outcomes.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3329883"/>
            <a:ext cx="16303523" cy="679847"/>
          </a:xfrm>
          <a:prstGeom prst="rect">
            <a:avLst/>
          </a:prstGeom>
        </p:spPr>
        <p:txBody>
          <a:bodyPr anchor="t" rtlCol="false" tIns="0" lIns="0" bIns="0" rIns="0">
            <a:spAutoFit/>
          </a:bodyPr>
          <a:lstStyle/>
          <a:p>
            <a:pPr algn="l">
              <a:lnSpc>
                <a:spcPts val="5116"/>
              </a:lnSpc>
            </a:pPr>
            <a:r>
              <a:rPr lang="en-US" sz="4100" b="true">
                <a:solidFill>
                  <a:srgbClr val="000000"/>
                </a:solidFill>
                <a:latin typeface="Petrona Bold"/>
                <a:ea typeface="Petrona Bold"/>
                <a:cs typeface="Petrona Bold"/>
                <a:sym typeface="Petrona Bold"/>
              </a:rPr>
              <a:t>The Data (Overview)</a:t>
            </a:r>
          </a:p>
        </p:txBody>
      </p:sp>
      <p:sp>
        <p:nvSpPr>
          <p:cNvPr name="TextBox 9" id="9"/>
          <p:cNvSpPr txBox="true"/>
          <p:nvPr/>
        </p:nvSpPr>
        <p:spPr>
          <a:xfrm rot="0">
            <a:off x="992238" y="4429573"/>
            <a:ext cx="17217923" cy="473126"/>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 We analyzed 500 past loan applications. Each record contains core borrower and loan attributes used by underwriters to assess risk. </a:t>
            </a:r>
          </a:p>
        </p:txBody>
      </p:sp>
      <p:sp>
        <p:nvSpPr>
          <p:cNvPr name="Freeform 10" id="10" descr="preencoded.png"/>
          <p:cNvSpPr/>
          <p:nvPr/>
        </p:nvSpPr>
        <p:spPr>
          <a:xfrm flipH="false" flipV="false" rot="0">
            <a:off x="992238" y="5181752"/>
            <a:ext cx="620163" cy="620163"/>
          </a:xfrm>
          <a:custGeom>
            <a:avLst/>
            <a:gdLst/>
            <a:ahLst/>
            <a:cxnLst/>
            <a:rect r="r" b="b" t="t" l="l"/>
            <a:pathLst>
              <a:path h="620163" w="620163">
                <a:moveTo>
                  <a:pt x="0" y="0"/>
                </a:moveTo>
                <a:lnTo>
                  <a:pt x="620164" y="0"/>
                </a:lnTo>
                <a:lnTo>
                  <a:pt x="620164" y="620164"/>
                </a:lnTo>
                <a:lnTo>
                  <a:pt x="0" y="620164"/>
                </a:lnTo>
                <a:lnTo>
                  <a:pt x="0" y="0"/>
                </a:lnTo>
                <a:close/>
              </a:path>
            </a:pathLst>
          </a:custGeom>
          <a:blipFill>
            <a:blip r:embed="rId6">
              <a:extLst>
                <a:ext uri="{96DAC541-7B7A-43D3-8B79-37D633B846F1}">
                  <asvg:svgBlip xmlns:asvg="http://schemas.microsoft.com/office/drawing/2016/SVG/main" r:embed="rId7"/>
                </a:ext>
              </a:extLst>
            </a:blip>
            <a:stretch>
              <a:fillRect l="0" t="-1515" r="0" b="-1514"/>
            </a:stretch>
          </a:blipFill>
        </p:spPr>
      </p:sp>
      <p:sp>
        <p:nvSpPr>
          <p:cNvPr name="TextBox 11" id="11"/>
          <p:cNvSpPr txBox="true"/>
          <p:nvPr/>
        </p:nvSpPr>
        <p:spPr>
          <a:xfrm rot="0">
            <a:off x="1922412" y="5153177"/>
            <a:ext cx="4297556"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Sample Size</a:t>
            </a:r>
          </a:p>
        </p:txBody>
      </p:sp>
      <p:sp>
        <p:nvSpPr>
          <p:cNvPr name="TextBox 12" id="12"/>
          <p:cNvSpPr txBox="true"/>
          <p:nvPr/>
        </p:nvSpPr>
        <p:spPr>
          <a:xfrm rot="0">
            <a:off x="1922412" y="5661422"/>
            <a:ext cx="4297556" cy="1266977"/>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500 loan applications, balanced preprocessing to avoid skew where possible.</a:t>
            </a:r>
          </a:p>
        </p:txBody>
      </p:sp>
      <p:sp>
        <p:nvSpPr>
          <p:cNvPr name="Freeform 13" id="13" descr="preencoded.png"/>
          <p:cNvSpPr/>
          <p:nvPr/>
        </p:nvSpPr>
        <p:spPr>
          <a:xfrm flipH="false" flipV="false" rot="0">
            <a:off x="6529978" y="5181752"/>
            <a:ext cx="620163" cy="620163"/>
          </a:xfrm>
          <a:custGeom>
            <a:avLst/>
            <a:gdLst/>
            <a:ahLst/>
            <a:cxnLst/>
            <a:rect r="r" b="b" t="t" l="l"/>
            <a:pathLst>
              <a:path h="620163" w="620163">
                <a:moveTo>
                  <a:pt x="0" y="0"/>
                </a:moveTo>
                <a:lnTo>
                  <a:pt x="620163" y="0"/>
                </a:lnTo>
                <a:lnTo>
                  <a:pt x="620163" y="620164"/>
                </a:lnTo>
                <a:lnTo>
                  <a:pt x="0" y="620164"/>
                </a:lnTo>
                <a:lnTo>
                  <a:pt x="0" y="0"/>
                </a:lnTo>
                <a:close/>
              </a:path>
            </a:pathLst>
          </a:custGeom>
          <a:blipFill>
            <a:blip r:embed="rId8">
              <a:extLst>
                <a:ext uri="{96DAC541-7B7A-43D3-8B79-37D633B846F1}">
                  <asvg:svgBlip xmlns:asvg="http://schemas.microsoft.com/office/drawing/2016/SVG/main" r:embed="rId9"/>
                </a:ext>
              </a:extLst>
            </a:blip>
            <a:stretch>
              <a:fillRect l="0" t="-6817" r="0" b="-6819"/>
            </a:stretch>
          </a:blipFill>
        </p:spPr>
      </p:sp>
      <p:sp>
        <p:nvSpPr>
          <p:cNvPr name="TextBox 14" id="14"/>
          <p:cNvSpPr txBox="true"/>
          <p:nvPr/>
        </p:nvSpPr>
        <p:spPr>
          <a:xfrm rot="0">
            <a:off x="7460161" y="5153177"/>
            <a:ext cx="4297709"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Key Features</a:t>
            </a:r>
          </a:p>
        </p:txBody>
      </p:sp>
      <p:sp>
        <p:nvSpPr>
          <p:cNvPr name="TextBox 15" id="15"/>
          <p:cNvSpPr txBox="true"/>
          <p:nvPr/>
        </p:nvSpPr>
        <p:spPr>
          <a:xfrm rot="0">
            <a:off x="7460161" y="5661422"/>
            <a:ext cx="4297709" cy="1266977"/>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Age, Income, Credit Score, Loan Amount, Employment History (tenure, type).</a:t>
            </a:r>
          </a:p>
        </p:txBody>
      </p:sp>
      <p:sp>
        <p:nvSpPr>
          <p:cNvPr name="Freeform 16" id="16" descr="preencoded.png"/>
          <p:cNvSpPr/>
          <p:nvPr/>
        </p:nvSpPr>
        <p:spPr>
          <a:xfrm flipH="false" flipV="false" rot="0">
            <a:off x="12067880" y="5181752"/>
            <a:ext cx="620163" cy="620163"/>
          </a:xfrm>
          <a:custGeom>
            <a:avLst/>
            <a:gdLst/>
            <a:ahLst/>
            <a:cxnLst/>
            <a:rect r="r" b="b" t="t" l="l"/>
            <a:pathLst>
              <a:path h="620163" w="620163">
                <a:moveTo>
                  <a:pt x="0" y="0"/>
                </a:moveTo>
                <a:lnTo>
                  <a:pt x="620163" y="0"/>
                </a:lnTo>
                <a:lnTo>
                  <a:pt x="620163" y="620164"/>
                </a:lnTo>
                <a:lnTo>
                  <a:pt x="0" y="620164"/>
                </a:lnTo>
                <a:lnTo>
                  <a:pt x="0" y="0"/>
                </a:lnTo>
                <a:close/>
              </a:path>
            </a:pathLst>
          </a:custGeom>
          <a:blipFill>
            <a:blip r:embed="rId10">
              <a:extLst>
                <a:ext uri="{96DAC541-7B7A-43D3-8B79-37D633B846F1}">
                  <asvg:svgBlip xmlns:asvg="http://schemas.microsoft.com/office/drawing/2016/SVG/main" r:embed="rId11"/>
                </a:ext>
              </a:extLst>
            </a:blip>
            <a:stretch>
              <a:fillRect l="0" t="-7576" r="0" b="-7574"/>
            </a:stretch>
          </a:blipFill>
        </p:spPr>
      </p:sp>
      <p:sp>
        <p:nvSpPr>
          <p:cNvPr name="TextBox 17" id="17"/>
          <p:cNvSpPr txBox="true"/>
          <p:nvPr/>
        </p:nvSpPr>
        <p:spPr>
          <a:xfrm rot="0">
            <a:off x="12998053" y="5153177"/>
            <a:ext cx="4297709"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Quality</a:t>
            </a:r>
          </a:p>
        </p:txBody>
      </p:sp>
      <p:sp>
        <p:nvSpPr>
          <p:cNvPr name="TextBox 18" id="18"/>
          <p:cNvSpPr txBox="true"/>
          <p:nvPr/>
        </p:nvSpPr>
        <p:spPr>
          <a:xfrm rot="0">
            <a:off x="12998053" y="5661422"/>
            <a:ext cx="4297709" cy="1266977"/>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Dataset prepared and cleaned — missing values addressed, outliers examined.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3089377"/>
            <a:ext cx="16303523" cy="679847"/>
          </a:xfrm>
          <a:prstGeom prst="rect">
            <a:avLst/>
          </a:prstGeom>
        </p:spPr>
        <p:txBody>
          <a:bodyPr anchor="t" rtlCol="false" tIns="0" lIns="0" bIns="0" rIns="0">
            <a:spAutoFit/>
          </a:bodyPr>
          <a:lstStyle/>
          <a:p>
            <a:pPr algn="l">
              <a:lnSpc>
                <a:spcPts val="5116"/>
              </a:lnSpc>
            </a:pPr>
            <a:r>
              <a:rPr lang="en-US" sz="4100" b="true">
                <a:solidFill>
                  <a:srgbClr val="000000"/>
                </a:solidFill>
                <a:latin typeface="Petrona Bold"/>
                <a:ea typeface="Petrona Bold"/>
                <a:cs typeface="Petrona Bold"/>
                <a:sym typeface="Petrona Bold"/>
              </a:rPr>
              <a:t>How We Prepared the Data</a:t>
            </a:r>
          </a:p>
        </p:txBody>
      </p:sp>
      <p:grpSp>
        <p:nvGrpSpPr>
          <p:cNvPr name="Group 9" id="9"/>
          <p:cNvGrpSpPr/>
          <p:nvPr/>
        </p:nvGrpSpPr>
        <p:grpSpPr>
          <a:xfrm rot="0">
            <a:off x="992238" y="4265266"/>
            <a:ext cx="496043" cy="310010"/>
            <a:chOff x="0" y="0"/>
            <a:chExt cx="661391" cy="413347"/>
          </a:xfrm>
        </p:grpSpPr>
        <p:sp>
          <p:nvSpPr>
            <p:cNvPr name="Freeform 10" id="10"/>
            <p:cNvSpPr/>
            <p:nvPr/>
          </p:nvSpPr>
          <p:spPr>
            <a:xfrm flipH="false" flipV="false" rot="0">
              <a:off x="0" y="0"/>
              <a:ext cx="661392" cy="413344"/>
            </a:xfrm>
            <a:custGeom>
              <a:avLst/>
              <a:gdLst/>
              <a:ahLst/>
              <a:cxnLst/>
              <a:rect r="r" b="b" t="t" l="l"/>
              <a:pathLst>
                <a:path h="413344" w="661392">
                  <a:moveTo>
                    <a:pt x="0" y="0"/>
                  </a:moveTo>
                  <a:lnTo>
                    <a:pt x="661392" y="0"/>
                  </a:lnTo>
                  <a:lnTo>
                    <a:pt x="661392" y="413344"/>
                  </a:lnTo>
                  <a:lnTo>
                    <a:pt x="0" y="413344"/>
                  </a:lnTo>
                  <a:close/>
                </a:path>
              </a:pathLst>
            </a:custGeom>
            <a:blipFill>
              <a:blip r:embed="rId5">
                <a:alphaModFix amt="0"/>
              </a:blip>
              <a:stretch>
                <a:fillRect l="-30185" t="0" r="-30185" b="0"/>
              </a:stretch>
            </a:blipFill>
          </p:spPr>
        </p:sp>
        <p:sp>
          <p:nvSpPr>
            <p:cNvPr name="TextBox 11" id="11"/>
            <p:cNvSpPr txBox="true"/>
            <p:nvPr/>
          </p:nvSpPr>
          <p:spPr>
            <a:xfrm>
              <a:off x="0" y="0"/>
              <a:ext cx="661391" cy="413347"/>
            </a:xfrm>
            <a:prstGeom prst="rect">
              <a:avLst/>
            </a:prstGeom>
          </p:spPr>
          <p:txBody>
            <a:bodyPr anchor="ctr" rtlCol="false" tIns="0" lIns="0" bIns="0" rIns="0"/>
            <a:lstStyle/>
            <a:p>
              <a:pPr algn="l">
                <a:lnSpc>
                  <a:spcPts val="2280"/>
                </a:lnSpc>
              </a:pPr>
              <a:r>
                <a:rPr lang="en-US" sz="1900">
                  <a:solidFill>
                    <a:srgbClr val="272525"/>
                  </a:solidFill>
                  <a:latin typeface="Petrona Light"/>
                  <a:ea typeface="Petrona Light"/>
                  <a:cs typeface="Petrona Light"/>
                  <a:sym typeface="Petrona Light"/>
                </a:rPr>
                <a:t>01</a:t>
              </a:r>
            </a:p>
          </p:txBody>
        </p:sp>
      </p:grpSp>
      <p:grpSp>
        <p:nvGrpSpPr>
          <p:cNvPr name="Group 12" id="12"/>
          <p:cNvGrpSpPr/>
          <p:nvPr/>
        </p:nvGrpSpPr>
        <p:grpSpPr>
          <a:xfrm rot="0">
            <a:off x="992238" y="4658173"/>
            <a:ext cx="5269106" cy="28575"/>
            <a:chOff x="0" y="0"/>
            <a:chExt cx="7025475" cy="38100"/>
          </a:xfrm>
        </p:grpSpPr>
        <p:sp>
          <p:nvSpPr>
            <p:cNvPr name="Freeform 13" id="13"/>
            <p:cNvSpPr/>
            <p:nvPr/>
          </p:nvSpPr>
          <p:spPr>
            <a:xfrm flipH="false" flipV="false" rot="0">
              <a:off x="0" y="0"/>
              <a:ext cx="7025513" cy="38100"/>
            </a:xfrm>
            <a:custGeom>
              <a:avLst/>
              <a:gdLst/>
              <a:ahLst/>
              <a:cxnLst/>
              <a:rect r="r" b="b" t="t" l="l"/>
              <a:pathLst>
                <a:path h="38100" w="7025513">
                  <a:moveTo>
                    <a:pt x="0" y="0"/>
                  </a:moveTo>
                  <a:lnTo>
                    <a:pt x="7025513" y="0"/>
                  </a:lnTo>
                  <a:lnTo>
                    <a:pt x="7025513" y="38100"/>
                  </a:lnTo>
                  <a:lnTo>
                    <a:pt x="0" y="38100"/>
                  </a:lnTo>
                  <a:close/>
                </a:path>
              </a:pathLst>
            </a:custGeom>
            <a:solidFill>
              <a:srgbClr val="007EBD"/>
            </a:solidFill>
          </p:spPr>
        </p:sp>
      </p:grpSp>
      <p:sp>
        <p:nvSpPr>
          <p:cNvPr name="TextBox 14" id="14"/>
          <p:cNvSpPr txBox="true"/>
          <p:nvPr/>
        </p:nvSpPr>
        <p:spPr>
          <a:xfrm rot="0">
            <a:off x="992238" y="4810725"/>
            <a:ext cx="5269106"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1. Remove incomplete records</a:t>
            </a:r>
          </a:p>
        </p:txBody>
      </p:sp>
      <p:sp>
        <p:nvSpPr>
          <p:cNvPr name="TextBox 15" id="15"/>
          <p:cNvSpPr txBox="true"/>
          <p:nvPr/>
        </p:nvSpPr>
        <p:spPr>
          <a:xfrm rot="0">
            <a:off x="992238" y="5318970"/>
            <a:ext cx="5269106" cy="1663894"/>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Rows with critical missing fields (credit score, income) were removed or imputed based on best practices to avoid biasing the model.</a:t>
            </a:r>
          </a:p>
        </p:txBody>
      </p:sp>
      <p:grpSp>
        <p:nvGrpSpPr>
          <p:cNvPr name="Group 16" id="16"/>
          <p:cNvGrpSpPr/>
          <p:nvPr/>
        </p:nvGrpSpPr>
        <p:grpSpPr>
          <a:xfrm rot="0">
            <a:off x="6509299" y="4265266"/>
            <a:ext cx="496043" cy="310010"/>
            <a:chOff x="0" y="0"/>
            <a:chExt cx="661391" cy="413347"/>
          </a:xfrm>
        </p:grpSpPr>
        <p:sp>
          <p:nvSpPr>
            <p:cNvPr name="Freeform 17" id="17"/>
            <p:cNvSpPr/>
            <p:nvPr/>
          </p:nvSpPr>
          <p:spPr>
            <a:xfrm flipH="false" flipV="false" rot="0">
              <a:off x="0" y="0"/>
              <a:ext cx="661392" cy="413344"/>
            </a:xfrm>
            <a:custGeom>
              <a:avLst/>
              <a:gdLst/>
              <a:ahLst/>
              <a:cxnLst/>
              <a:rect r="r" b="b" t="t" l="l"/>
              <a:pathLst>
                <a:path h="413344" w="661392">
                  <a:moveTo>
                    <a:pt x="0" y="0"/>
                  </a:moveTo>
                  <a:lnTo>
                    <a:pt x="661392" y="0"/>
                  </a:lnTo>
                  <a:lnTo>
                    <a:pt x="661392" y="413344"/>
                  </a:lnTo>
                  <a:lnTo>
                    <a:pt x="0" y="413344"/>
                  </a:lnTo>
                  <a:close/>
                </a:path>
              </a:pathLst>
            </a:custGeom>
            <a:blipFill>
              <a:blip r:embed="rId5">
                <a:alphaModFix amt="0"/>
              </a:blip>
              <a:stretch>
                <a:fillRect l="-30185" t="0" r="-30185" b="0"/>
              </a:stretch>
            </a:blipFill>
          </p:spPr>
        </p:sp>
        <p:sp>
          <p:nvSpPr>
            <p:cNvPr name="TextBox 18" id="18"/>
            <p:cNvSpPr txBox="true"/>
            <p:nvPr/>
          </p:nvSpPr>
          <p:spPr>
            <a:xfrm>
              <a:off x="0" y="0"/>
              <a:ext cx="661391" cy="413347"/>
            </a:xfrm>
            <a:prstGeom prst="rect">
              <a:avLst/>
            </a:prstGeom>
          </p:spPr>
          <p:txBody>
            <a:bodyPr anchor="ctr" rtlCol="false" tIns="0" lIns="0" bIns="0" rIns="0"/>
            <a:lstStyle/>
            <a:p>
              <a:pPr algn="l">
                <a:lnSpc>
                  <a:spcPts val="2280"/>
                </a:lnSpc>
              </a:pPr>
              <a:r>
                <a:rPr lang="en-US" sz="1900">
                  <a:solidFill>
                    <a:srgbClr val="272525"/>
                  </a:solidFill>
                  <a:latin typeface="Petrona Light"/>
                  <a:ea typeface="Petrona Light"/>
                  <a:cs typeface="Petrona Light"/>
                  <a:sym typeface="Petrona Light"/>
                </a:rPr>
                <a:t>02</a:t>
              </a:r>
            </a:p>
          </p:txBody>
        </p:sp>
      </p:grpSp>
      <p:grpSp>
        <p:nvGrpSpPr>
          <p:cNvPr name="Group 19" id="19"/>
          <p:cNvGrpSpPr/>
          <p:nvPr/>
        </p:nvGrpSpPr>
        <p:grpSpPr>
          <a:xfrm rot="0">
            <a:off x="6509299" y="4658173"/>
            <a:ext cx="5269259" cy="28575"/>
            <a:chOff x="0" y="0"/>
            <a:chExt cx="7025678" cy="38100"/>
          </a:xfrm>
        </p:grpSpPr>
        <p:sp>
          <p:nvSpPr>
            <p:cNvPr name="Freeform 20" id="20"/>
            <p:cNvSpPr/>
            <p:nvPr/>
          </p:nvSpPr>
          <p:spPr>
            <a:xfrm flipH="false" flipV="false" rot="0">
              <a:off x="0" y="0"/>
              <a:ext cx="7025640" cy="38100"/>
            </a:xfrm>
            <a:custGeom>
              <a:avLst/>
              <a:gdLst/>
              <a:ahLst/>
              <a:cxnLst/>
              <a:rect r="r" b="b" t="t" l="l"/>
              <a:pathLst>
                <a:path h="38100" w="7025640">
                  <a:moveTo>
                    <a:pt x="0" y="0"/>
                  </a:moveTo>
                  <a:lnTo>
                    <a:pt x="7025640" y="0"/>
                  </a:lnTo>
                  <a:lnTo>
                    <a:pt x="7025640" y="38100"/>
                  </a:lnTo>
                  <a:lnTo>
                    <a:pt x="0" y="38100"/>
                  </a:lnTo>
                  <a:close/>
                </a:path>
              </a:pathLst>
            </a:custGeom>
            <a:solidFill>
              <a:srgbClr val="007EBD"/>
            </a:solidFill>
          </p:spPr>
        </p:sp>
      </p:grpSp>
      <p:sp>
        <p:nvSpPr>
          <p:cNvPr name="TextBox 21" id="21"/>
          <p:cNvSpPr txBox="true"/>
          <p:nvPr/>
        </p:nvSpPr>
        <p:spPr>
          <a:xfrm rot="0">
            <a:off x="6509299" y="4810725"/>
            <a:ext cx="5269259"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2. Encode categorical fields</a:t>
            </a:r>
          </a:p>
        </p:txBody>
      </p:sp>
      <p:sp>
        <p:nvSpPr>
          <p:cNvPr name="TextBox 22" id="22"/>
          <p:cNvSpPr txBox="true"/>
          <p:nvPr/>
        </p:nvSpPr>
        <p:spPr>
          <a:xfrm rot="0">
            <a:off x="6509299" y="5318970"/>
            <a:ext cx="5269259" cy="1266977"/>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Employment type and loan purpose converted from text to numeric encodings so models can interpret them consistently.</a:t>
            </a:r>
          </a:p>
        </p:txBody>
      </p:sp>
      <p:grpSp>
        <p:nvGrpSpPr>
          <p:cNvPr name="Group 23" id="23"/>
          <p:cNvGrpSpPr/>
          <p:nvPr/>
        </p:nvGrpSpPr>
        <p:grpSpPr>
          <a:xfrm rot="0">
            <a:off x="12026503" y="4265266"/>
            <a:ext cx="496043" cy="310010"/>
            <a:chOff x="0" y="0"/>
            <a:chExt cx="661391" cy="413347"/>
          </a:xfrm>
        </p:grpSpPr>
        <p:sp>
          <p:nvSpPr>
            <p:cNvPr name="Freeform 24" id="24"/>
            <p:cNvSpPr/>
            <p:nvPr/>
          </p:nvSpPr>
          <p:spPr>
            <a:xfrm flipH="false" flipV="false" rot="0">
              <a:off x="0" y="0"/>
              <a:ext cx="661392" cy="413344"/>
            </a:xfrm>
            <a:custGeom>
              <a:avLst/>
              <a:gdLst/>
              <a:ahLst/>
              <a:cxnLst/>
              <a:rect r="r" b="b" t="t" l="l"/>
              <a:pathLst>
                <a:path h="413344" w="661392">
                  <a:moveTo>
                    <a:pt x="0" y="0"/>
                  </a:moveTo>
                  <a:lnTo>
                    <a:pt x="661392" y="0"/>
                  </a:lnTo>
                  <a:lnTo>
                    <a:pt x="661392" y="413344"/>
                  </a:lnTo>
                  <a:lnTo>
                    <a:pt x="0" y="413344"/>
                  </a:lnTo>
                  <a:close/>
                </a:path>
              </a:pathLst>
            </a:custGeom>
            <a:blipFill>
              <a:blip r:embed="rId5">
                <a:alphaModFix amt="0"/>
              </a:blip>
              <a:stretch>
                <a:fillRect l="-30185" t="0" r="-30185" b="0"/>
              </a:stretch>
            </a:blipFill>
          </p:spPr>
        </p:sp>
        <p:sp>
          <p:nvSpPr>
            <p:cNvPr name="TextBox 25" id="25"/>
            <p:cNvSpPr txBox="true"/>
            <p:nvPr/>
          </p:nvSpPr>
          <p:spPr>
            <a:xfrm>
              <a:off x="0" y="0"/>
              <a:ext cx="661391" cy="413347"/>
            </a:xfrm>
            <a:prstGeom prst="rect">
              <a:avLst/>
            </a:prstGeom>
          </p:spPr>
          <p:txBody>
            <a:bodyPr anchor="ctr" rtlCol="false" tIns="0" lIns="0" bIns="0" rIns="0"/>
            <a:lstStyle/>
            <a:p>
              <a:pPr algn="l">
                <a:lnSpc>
                  <a:spcPts val="2280"/>
                </a:lnSpc>
              </a:pPr>
              <a:r>
                <a:rPr lang="en-US" sz="1900">
                  <a:solidFill>
                    <a:srgbClr val="272525"/>
                  </a:solidFill>
                  <a:latin typeface="Petrona Light"/>
                  <a:ea typeface="Petrona Light"/>
                  <a:cs typeface="Petrona Light"/>
                  <a:sym typeface="Petrona Light"/>
                </a:rPr>
                <a:t>03</a:t>
              </a:r>
            </a:p>
          </p:txBody>
        </p:sp>
      </p:grpSp>
      <p:grpSp>
        <p:nvGrpSpPr>
          <p:cNvPr name="Group 26" id="26"/>
          <p:cNvGrpSpPr/>
          <p:nvPr/>
        </p:nvGrpSpPr>
        <p:grpSpPr>
          <a:xfrm rot="0">
            <a:off x="12026503" y="4658173"/>
            <a:ext cx="5269106" cy="28575"/>
            <a:chOff x="0" y="0"/>
            <a:chExt cx="7025475" cy="38100"/>
          </a:xfrm>
        </p:grpSpPr>
        <p:sp>
          <p:nvSpPr>
            <p:cNvPr name="Freeform 27" id="27"/>
            <p:cNvSpPr/>
            <p:nvPr/>
          </p:nvSpPr>
          <p:spPr>
            <a:xfrm flipH="false" flipV="false" rot="0">
              <a:off x="0" y="0"/>
              <a:ext cx="7025513" cy="38100"/>
            </a:xfrm>
            <a:custGeom>
              <a:avLst/>
              <a:gdLst/>
              <a:ahLst/>
              <a:cxnLst/>
              <a:rect r="r" b="b" t="t" l="l"/>
              <a:pathLst>
                <a:path h="38100" w="7025513">
                  <a:moveTo>
                    <a:pt x="0" y="0"/>
                  </a:moveTo>
                  <a:lnTo>
                    <a:pt x="7025513" y="0"/>
                  </a:lnTo>
                  <a:lnTo>
                    <a:pt x="7025513" y="38100"/>
                  </a:lnTo>
                  <a:lnTo>
                    <a:pt x="0" y="38100"/>
                  </a:lnTo>
                  <a:close/>
                </a:path>
              </a:pathLst>
            </a:custGeom>
            <a:solidFill>
              <a:srgbClr val="007EBD"/>
            </a:solidFill>
          </p:spPr>
        </p:sp>
      </p:grpSp>
      <p:sp>
        <p:nvSpPr>
          <p:cNvPr name="TextBox 28" id="28"/>
          <p:cNvSpPr txBox="true"/>
          <p:nvPr/>
        </p:nvSpPr>
        <p:spPr>
          <a:xfrm rot="0">
            <a:off x="12026503" y="4810725"/>
            <a:ext cx="5269106"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3. Standardize numeric values</a:t>
            </a:r>
          </a:p>
        </p:txBody>
      </p:sp>
      <p:sp>
        <p:nvSpPr>
          <p:cNvPr name="TextBox 29" id="29"/>
          <p:cNvSpPr txBox="true"/>
          <p:nvPr/>
        </p:nvSpPr>
        <p:spPr>
          <a:xfrm rot="0">
            <a:off x="12026503" y="5318970"/>
            <a:ext cx="5269106" cy="1663894"/>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Continuous features (income, loan amount, credit score) were standardized to zero mean and unit variance for fair model comparison.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2406996"/>
            <a:ext cx="16303523" cy="679847"/>
          </a:xfrm>
          <a:prstGeom prst="rect">
            <a:avLst/>
          </a:prstGeom>
        </p:spPr>
        <p:txBody>
          <a:bodyPr anchor="t" rtlCol="false" tIns="0" lIns="0" bIns="0" rIns="0">
            <a:spAutoFit/>
          </a:bodyPr>
          <a:lstStyle/>
          <a:p>
            <a:pPr algn="l">
              <a:lnSpc>
                <a:spcPts val="5116"/>
              </a:lnSpc>
            </a:pPr>
            <a:r>
              <a:rPr lang="en-US" sz="4100" b="true">
                <a:solidFill>
                  <a:srgbClr val="000000"/>
                </a:solidFill>
                <a:latin typeface="Petrona Bold"/>
                <a:ea typeface="Petrona Bold"/>
                <a:cs typeface="Petrona Bold"/>
                <a:sym typeface="Petrona Bold"/>
              </a:rPr>
              <a:t>Models We Tested</a:t>
            </a:r>
          </a:p>
        </p:txBody>
      </p:sp>
      <p:sp>
        <p:nvSpPr>
          <p:cNvPr name="TextBox 9" id="9"/>
          <p:cNvSpPr txBox="true"/>
          <p:nvPr/>
        </p:nvSpPr>
        <p:spPr>
          <a:xfrm rot="0">
            <a:off x="992238" y="3506686"/>
            <a:ext cx="17217923" cy="473126"/>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 We evaluated a set of common classification algorithms to compare predictive performance, robustness, and interpretability. </a:t>
            </a:r>
          </a:p>
        </p:txBody>
      </p:sp>
      <p:sp>
        <p:nvSpPr>
          <p:cNvPr name="Freeform 10" id="10" descr="preencoded.png"/>
          <p:cNvSpPr/>
          <p:nvPr/>
        </p:nvSpPr>
        <p:spPr>
          <a:xfrm flipH="false" flipV="false" rot="0">
            <a:off x="992238" y="4258866"/>
            <a:ext cx="620163" cy="620163"/>
          </a:xfrm>
          <a:custGeom>
            <a:avLst/>
            <a:gdLst/>
            <a:ahLst/>
            <a:cxnLst/>
            <a:rect r="r" b="b" t="t" l="l"/>
            <a:pathLst>
              <a:path h="620163" w="620163">
                <a:moveTo>
                  <a:pt x="0" y="0"/>
                </a:moveTo>
                <a:lnTo>
                  <a:pt x="620164" y="0"/>
                </a:lnTo>
                <a:lnTo>
                  <a:pt x="620164" y="620163"/>
                </a:lnTo>
                <a:lnTo>
                  <a:pt x="0" y="620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922412" y="4230291"/>
            <a:ext cx="4297556"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Logistic Regression</a:t>
            </a:r>
          </a:p>
        </p:txBody>
      </p:sp>
      <p:sp>
        <p:nvSpPr>
          <p:cNvPr name="TextBox 12" id="12"/>
          <p:cNvSpPr txBox="true"/>
          <p:nvPr/>
        </p:nvSpPr>
        <p:spPr>
          <a:xfrm rot="0">
            <a:off x="1922412" y="4738535"/>
            <a:ext cx="4297556" cy="870052"/>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Baseline linear model, interpretable coefficients for feature effects.</a:t>
            </a:r>
          </a:p>
        </p:txBody>
      </p:sp>
      <p:sp>
        <p:nvSpPr>
          <p:cNvPr name="Freeform 13" id="13" descr="preencoded.png"/>
          <p:cNvSpPr/>
          <p:nvPr/>
        </p:nvSpPr>
        <p:spPr>
          <a:xfrm flipH="false" flipV="false" rot="0">
            <a:off x="6529978" y="4258866"/>
            <a:ext cx="620163" cy="620163"/>
          </a:xfrm>
          <a:custGeom>
            <a:avLst/>
            <a:gdLst/>
            <a:ahLst/>
            <a:cxnLst/>
            <a:rect r="r" b="b" t="t" l="l"/>
            <a:pathLst>
              <a:path h="620163" w="620163">
                <a:moveTo>
                  <a:pt x="0" y="0"/>
                </a:moveTo>
                <a:lnTo>
                  <a:pt x="620163" y="0"/>
                </a:lnTo>
                <a:lnTo>
                  <a:pt x="620163" y="620163"/>
                </a:lnTo>
                <a:lnTo>
                  <a:pt x="0" y="620163"/>
                </a:lnTo>
                <a:lnTo>
                  <a:pt x="0" y="0"/>
                </a:lnTo>
                <a:close/>
              </a:path>
            </a:pathLst>
          </a:custGeom>
          <a:blipFill>
            <a:blip r:embed="rId8">
              <a:extLst>
                <a:ext uri="{96DAC541-7B7A-43D3-8B79-37D633B846F1}">
                  <asvg:svgBlip xmlns:asvg="http://schemas.microsoft.com/office/drawing/2016/SVG/main" r:embed="rId9"/>
                </a:ext>
              </a:extLst>
            </a:blip>
            <a:stretch>
              <a:fillRect l="0" t="-2273" r="0" b="-2273"/>
            </a:stretch>
          </a:blipFill>
        </p:spPr>
      </p:sp>
      <p:sp>
        <p:nvSpPr>
          <p:cNvPr name="TextBox 14" id="14"/>
          <p:cNvSpPr txBox="true"/>
          <p:nvPr/>
        </p:nvSpPr>
        <p:spPr>
          <a:xfrm rot="0">
            <a:off x="7460161" y="4230291"/>
            <a:ext cx="4297709"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Decision Tree</a:t>
            </a:r>
          </a:p>
        </p:txBody>
      </p:sp>
      <p:sp>
        <p:nvSpPr>
          <p:cNvPr name="TextBox 15" id="15"/>
          <p:cNvSpPr txBox="true"/>
          <p:nvPr/>
        </p:nvSpPr>
        <p:spPr>
          <a:xfrm rot="0">
            <a:off x="7460161" y="4738535"/>
            <a:ext cx="4297709" cy="870052"/>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Interpretable rule-based splits — prone to overfitting without pruning.</a:t>
            </a:r>
          </a:p>
        </p:txBody>
      </p:sp>
      <p:sp>
        <p:nvSpPr>
          <p:cNvPr name="Freeform 16" id="16" descr="preencoded.png"/>
          <p:cNvSpPr/>
          <p:nvPr/>
        </p:nvSpPr>
        <p:spPr>
          <a:xfrm flipH="false" flipV="false" rot="0">
            <a:off x="12067880" y="4258866"/>
            <a:ext cx="620163" cy="620163"/>
          </a:xfrm>
          <a:custGeom>
            <a:avLst/>
            <a:gdLst/>
            <a:ahLst/>
            <a:cxnLst/>
            <a:rect r="r" b="b" t="t" l="l"/>
            <a:pathLst>
              <a:path h="620163" w="620163">
                <a:moveTo>
                  <a:pt x="0" y="0"/>
                </a:moveTo>
                <a:lnTo>
                  <a:pt x="620163" y="0"/>
                </a:lnTo>
                <a:lnTo>
                  <a:pt x="620163" y="620163"/>
                </a:lnTo>
                <a:lnTo>
                  <a:pt x="0" y="620163"/>
                </a:lnTo>
                <a:lnTo>
                  <a:pt x="0" y="0"/>
                </a:lnTo>
                <a:close/>
              </a:path>
            </a:pathLst>
          </a:custGeom>
          <a:blipFill>
            <a:blip r:embed="rId10">
              <a:extLst>
                <a:ext uri="{96DAC541-7B7A-43D3-8B79-37D633B846F1}">
                  <asvg:svgBlip xmlns:asvg="http://schemas.microsoft.com/office/drawing/2016/SVG/main" r:embed="rId11"/>
                </a:ext>
              </a:extLst>
            </a:blip>
            <a:stretch>
              <a:fillRect l="0" t="-757" r="0" b="-758"/>
            </a:stretch>
          </a:blipFill>
        </p:spPr>
      </p:sp>
      <p:sp>
        <p:nvSpPr>
          <p:cNvPr name="TextBox 17" id="17"/>
          <p:cNvSpPr txBox="true"/>
          <p:nvPr/>
        </p:nvSpPr>
        <p:spPr>
          <a:xfrm rot="0">
            <a:off x="12998053" y="4230291"/>
            <a:ext cx="4297709"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Random Forest</a:t>
            </a:r>
          </a:p>
        </p:txBody>
      </p:sp>
      <p:sp>
        <p:nvSpPr>
          <p:cNvPr name="TextBox 18" id="18"/>
          <p:cNvSpPr txBox="true"/>
          <p:nvPr/>
        </p:nvSpPr>
        <p:spPr>
          <a:xfrm rot="0">
            <a:off x="12998053" y="4738535"/>
            <a:ext cx="4297709" cy="870052"/>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Ensemble of trees that improves stability and reduces overfitting.</a:t>
            </a:r>
          </a:p>
        </p:txBody>
      </p:sp>
      <p:sp>
        <p:nvSpPr>
          <p:cNvPr name="Freeform 19" id="19" descr="preencoded.png"/>
          <p:cNvSpPr/>
          <p:nvPr/>
        </p:nvSpPr>
        <p:spPr>
          <a:xfrm flipH="false" flipV="false" rot="0">
            <a:off x="992238" y="6104630"/>
            <a:ext cx="620163" cy="620163"/>
          </a:xfrm>
          <a:custGeom>
            <a:avLst/>
            <a:gdLst/>
            <a:ahLst/>
            <a:cxnLst/>
            <a:rect r="r" b="b" t="t" l="l"/>
            <a:pathLst>
              <a:path h="620163" w="620163">
                <a:moveTo>
                  <a:pt x="0" y="0"/>
                </a:moveTo>
                <a:lnTo>
                  <a:pt x="620164" y="0"/>
                </a:lnTo>
                <a:lnTo>
                  <a:pt x="620164" y="620163"/>
                </a:lnTo>
                <a:lnTo>
                  <a:pt x="0" y="620163"/>
                </a:lnTo>
                <a:lnTo>
                  <a:pt x="0" y="0"/>
                </a:lnTo>
                <a:close/>
              </a:path>
            </a:pathLst>
          </a:custGeom>
          <a:blipFill>
            <a:blip r:embed="rId12">
              <a:extLst>
                <a:ext uri="{96DAC541-7B7A-43D3-8B79-37D633B846F1}">
                  <asvg:svgBlip xmlns:asvg="http://schemas.microsoft.com/office/drawing/2016/SVG/main" r:embed="rId13"/>
                </a:ext>
              </a:extLst>
            </a:blip>
            <a:stretch>
              <a:fillRect l="0" t="-24999" r="0" b="-25001"/>
            </a:stretch>
          </a:blipFill>
        </p:spPr>
      </p:sp>
      <p:sp>
        <p:nvSpPr>
          <p:cNvPr name="TextBox 20" id="20"/>
          <p:cNvSpPr txBox="true"/>
          <p:nvPr/>
        </p:nvSpPr>
        <p:spPr>
          <a:xfrm rot="0">
            <a:off x="1922412" y="6076055"/>
            <a:ext cx="4297556"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XGBoost</a:t>
            </a:r>
          </a:p>
        </p:txBody>
      </p:sp>
      <p:sp>
        <p:nvSpPr>
          <p:cNvPr name="TextBox 21" id="21"/>
          <p:cNvSpPr txBox="true"/>
          <p:nvPr/>
        </p:nvSpPr>
        <p:spPr>
          <a:xfrm rot="0">
            <a:off x="1922412" y="6584309"/>
            <a:ext cx="4297556" cy="1266977"/>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Gradient-boosted trees offering strong predictive power and tuning flexibility.</a:t>
            </a:r>
          </a:p>
        </p:txBody>
      </p:sp>
      <p:sp>
        <p:nvSpPr>
          <p:cNvPr name="Freeform 22" id="22" descr="preencoded.png"/>
          <p:cNvSpPr/>
          <p:nvPr/>
        </p:nvSpPr>
        <p:spPr>
          <a:xfrm flipH="false" flipV="false" rot="0">
            <a:off x="6529978" y="6104630"/>
            <a:ext cx="620163" cy="620163"/>
          </a:xfrm>
          <a:custGeom>
            <a:avLst/>
            <a:gdLst/>
            <a:ahLst/>
            <a:cxnLst/>
            <a:rect r="r" b="b" t="t" l="l"/>
            <a:pathLst>
              <a:path h="620163" w="620163">
                <a:moveTo>
                  <a:pt x="0" y="0"/>
                </a:moveTo>
                <a:lnTo>
                  <a:pt x="620163" y="0"/>
                </a:lnTo>
                <a:lnTo>
                  <a:pt x="620163" y="620163"/>
                </a:lnTo>
                <a:lnTo>
                  <a:pt x="0" y="62016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7460161" y="6076055"/>
            <a:ext cx="4297709"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K-Nearest Neighbors</a:t>
            </a:r>
          </a:p>
        </p:txBody>
      </p:sp>
      <p:sp>
        <p:nvSpPr>
          <p:cNvPr name="TextBox 24" id="24"/>
          <p:cNvSpPr txBox="true"/>
          <p:nvPr/>
        </p:nvSpPr>
        <p:spPr>
          <a:xfrm rot="0">
            <a:off x="7460161" y="6584309"/>
            <a:ext cx="4297709" cy="870052"/>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Instance-based approach used as a non-parametric comparison.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1022299"/>
            <a:ext cx="16303523" cy="679847"/>
          </a:xfrm>
          <a:prstGeom prst="rect">
            <a:avLst/>
          </a:prstGeom>
        </p:spPr>
        <p:txBody>
          <a:bodyPr anchor="t" rtlCol="false" tIns="0" lIns="0" bIns="0" rIns="0">
            <a:spAutoFit/>
          </a:bodyPr>
          <a:lstStyle/>
          <a:p>
            <a:pPr algn="l">
              <a:lnSpc>
                <a:spcPts val="5116"/>
              </a:lnSpc>
            </a:pPr>
            <a:r>
              <a:rPr lang="en-US" sz="4100" b="true">
                <a:solidFill>
                  <a:srgbClr val="000000"/>
                </a:solidFill>
                <a:latin typeface="Petrona Bold"/>
                <a:ea typeface="Petrona Bold"/>
                <a:cs typeface="Petrona Bold"/>
                <a:sym typeface="Petrona Bold"/>
              </a:rPr>
              <a:t>Tools &amp; Environment</a:t>
            </a:r>
          </a:p>
        </p:txBody>
      </p:sp>
      <p:sp>
        <p:nvSpPr>
          <p:cNvPr name="Freeform 9" id="9" descr="preencoded.png"/>
          <p:cNvSpPr/>
          <p:nvPr/>
        </p:nvSpPr>
        <p:spPr>
          <a:xfrm flipH="false" flipV="false" rot="0">
            <a:off x="992238" y="2198189"/>
            <a:ext cx="620163" cy="620163"/>
          </a:xfrm>
          <a:custGeom>
            <a:avLst/>
            <a:gdLst/>
            <a:ahLst/>
            <a:cxnLst/>
            <a:rect r="r" b="b" t="t" l="l"/>
            <a:pathLst>
              <a:path h="620163" w="620163">
                <a:moveTo>
                  <a:pt x="0" y="0"/>
                </a:moveTo>
                <a:lnTo>
                  <a:pt x="620164" y="0"/>
                </a:lnTo>
                <a:lnTo>
                  <a:pt x="620164" y="620163"/>
                </a:lnTo>
                <a:lnTo>
                  <a:pt x="0" y="620163"/>
                </a:lnTo>
                <a:lnTo>
                  <a:pt x="0" y="0"/>
                </a:lnTo>
                <a:close/>
              </a:path>
            </a:pathLst>
          </a:custGeom>
          <a:blipFill>
            <a:blip r:embed="rId6">
              <a:extLst>
                <a:ext uri="{96DAC541-7B7A-43D3-8B79-37D633B846F1}">
                  <asvg:svgBlip xmlns:asvg="http://schemas.microsoft.com/office/drawing/2016/SVG/main" r:embed="rId7"/>
                </a:ext>
              </a:extLst>
            </a:blip>
            <a:stretch>
              <a:fillRect l="0" t="-6817" r="0" b="-6819"/>
            </a:stretch>
          </a:blipFill>
        </p:spPr>
      </p:sp>
      <p:sp>
        <p:nvSpPr>
          <p:cNvPr name="TextBox 10" id="10"/>
          <p:cNvSpPr txBox="true"/>
          <p:nvPr/>
        </p:nvSpPr>
        <p:spPr>
          <a:xfrm rot="0">
            <a:off x="992238" y="3099797"/>
            <a:ext cx="7996685"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Python</a:t>
            </a:r>
          </a:p>
        </p:txBody>
      </p:sp>
      <p:sp>
        <p:nvSpPr>
          <p:cNvPr name="TextBox 11" id="11"/>
          <p:cNvSpPr txBox="true"/>
          <p:nvPr/>
        </p:nvSpPr>
        <p:spPr>
          <a:xfrm rot="0">
            <a:off x="992238" y="3608041"/>
            <a:ext cx="7996685" cy="473126"/>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Main language for data processing and modeling.</a:t>
            </a:r>
          </a:p>
        </p:txBody>
      </p:sp>
      <p:sp>
        <p:nvSpPr>
          <p:cNvPr name="Freeform 12" id="12" descr="preencoded.png"/>
          <p:cNvSpPr/>
          <p:nvPr/>
        </p:nvSpPr>
        <p:spPr>
          <a:xfrm flipH="false" flipV="false" rot="0">
            <a:off x="9298934" y="2198189"/>
            <a:ext cx="620163" cy="620163"/>
          </a:xfrm>
          <a:custGeom>
            <a:avLst/>
            <a:gdLst/>
            <a:ahLst/>
            <a:cxnLst/>
            <a:rect r="r" b="b" t="t" l="l"/>
            <a:pathLst>
              <a:path h="620163" w="620163">
                <a:moveTo>
                  <a:pt x="0" y="0"/>
                </a:moveTo>
                <a:lnTo>
                  <a:pt x="620163" y="0"/>
                </a:lnTo>
                <a:lnTo>
                  <a:pt x="620163" y="620163"/>
                </a:lnTo>
                <a:lnTo>
                  <a:pt x="0" y="620163"/>
                </a:lnTo>
                <a:lnTo>
                  <a:pt x="0" y="0"/>
                </a:lnTo>
                <a:close/>
              </a:path>
            </a:pathLst>
          </a:custGeom>
          <a:blipFill>
            <a:blip r:embed="rId8">
              <a:extLst>
                <a:ext uri="{96DAC541-7B7A-43D3-8B79-37D633B846F1}">
                  <asvg:svgBlip xmlns:asvg="http://schemas.microsoft.com/office/drawing/2016/SVG/main" r:embed="rId9"/>
                </a:ext>
              </a:extLst>
            </a:blip>
            <a:stretch>
              <a:fillRect l="-5303" t="0" r="-5303" b="0"/>
            </a:stretch>
          </a:blipFill>
        </p:spPr>
      </p:sp>
      <p:sp>
        <p:nvSpPr>
          <p:cNvPr name="TextBox 13" id="13"/>
          <p:cNvSpPr txBox="true"/>
          <p:nvPr/>
        </p:nvSpPr>
        <p:spPr>
          <a:xfrm rot="0">
            <a:off x="9298934" y="3099797"/>
            <a:ext cx="7996828"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Pandas</a:t>
            </a:r>
          </a:p>
        </p:txBody>
      </p:sp>
      <p:sp>
        <p:nvSpPr>
          <p:cNvPr name="TextBox 14" id="14"/>
          <p:cNvSpPr txBox="true"/>
          <p:nvPr/>
        </p:nvSpPr>
        <p:spPr>
          <a:xfrm rot="0">
            <a:off x="9298934" y="3608041"/>
            <a:ext cx="7996828" cy="473126"/>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Data ingestion, cleaning, and feature engineering.</a:t>
            </a:r>
          </a:p>
        </p:txBody>
      </p:sp>
      <p:sp>
        <p:nvSpPr>
          <p:cNvPr name="Freeform 15" id="15" descr="preencoded.png"/>
          <p:cNvSpPr/>
          <p:nvPr/>
        </p:nvSpPr>
        <p:spPr>
          <a:xfrm flipH="false" flipV="false" rot="0">
            <a:off x="992238" y="4577210"/>
            <a:ext cx="620163" cy="620163"/>
          </a:xfrm>
          <a:custGeom>
            <a:avLst/>
            <a:gdLst/>
            <a:ahLst/>
            <a:cxnLst/>
            <a:rect r="r" b="b" t="t" l="l"/>
            <a:pathLst>
              <a:path h="620163" w="620163">
                <a:moveTo>
                  <a:pt x="0" y="0"/>
                </a:moveTo>
                <a:lnTo>
                  <a:pt x="620164" y="0"/>
                </a:lnTo>
                <a:lnTo>
                  <a:pt x="620164" y="620163"/>
                </a:lnTo>
                <a:lnTo>
                  <a:pt x="0" y="620163"/>
                </a:lnTo>
                <a:lnTo>
                  <a:pt x="0" y="0"/>
                </a:lnTo>
                <a:close/>
              </a:path>
            </a:pathLst>
          </a:custGeom>
          <a:blipFill>
            <a:blip r:embed="rId10">
              <a:extLst>
                <a:ext uri="{96DAC541-7B7A-43D3-8B79-37D633B846F1}">
                  <asvg:svgBlip xmlns:asvg="http://schemas.microsoft.com/office/drawing/2016/SVG/main" r:embed="rId11"/>
                </a:ext>
              </a:extLst>
            </a:blip>
            <a:stretch>
              <a:fillRect l="-757" t="0" r="-758" b="0"/>
            </a:stretch>
          </a:blipFill>
        </p:spPr>
      </p:sp>
      <p:sp>
        <p:nvSpPr>
          <p:cNvPr name="TextBox 16" id="16"/>
          <p:cNvSpPr txBox="true"/>
          <p:nvPr/>
        </p:nvSpPr>
        <p:spPr>
          <a:xfrm rot="0">
            <a:off x="992238" y="5478809"/>
            <a:ext cx="7996685"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Scikit-learn</a:t>
            </a:r>
          </a:p>
        </p:txBody>
      </p:sp>
      <p:sp>
        <p:nvSpPr>
          <p:cNvPr name="TextBox 17" id="17"/>
          <p:cNvSpPr txBox="true"/>
          <p:nvPr/>
        </p:nvSpPr>
        <p:spPr>
          <a:xfrm rot="0">
            <a:off x="992238" y="5987063"/>
            <a:ext cx="7996685" cy="473126"/>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Model training, cross-validation, and evaluation utilities.</a:t>
            </a:r>
          </a:p>
        </p:txBody>
      </p:sp>
      <p:sp>
        <p:nvSpPr>
          <p:cNvPr name="Freeform 18" id="18" descr="preencoded.png"/>
          <p:cNvSpPr/>
          <p:nvPr/>
        </p:nvSpPr>
        <p:spPr>
          <a:xfrm flipH="false" flipV="false" rot="0">
            <a:off x="9298934" y="4577210"/>
            <a:ext cx="620163" cy="620163"/>
          </a:xfrm>
          <a:custGeom>
            <a:avLst/>
            <a:gdLst/>
            <a:ahLst/>
            <a:cxnLst/>
            <a:rect r="r" b="b" t="t" l="l"/>
            <a:pathLst>
              <a:path h="620163" w="620163">
                <a:moveTo>
                  <a:pt x="0" y="0"/>
                </a:moveTo>
                <a:lnTo>
                  <a:pt x="620163" y="0"/>
                </a:lnTo>
                <a:lnTo>
                  <a:pt x="620163" y="620163"/>
                </a:lnTo>
                <a:lnTo>
                  <a:pt x="0" y="620163"/>
                </a:lnTo>
                <a:lnTo>
                  <a:pt x="0" y="0"/>
                </a:lnTo>
                <a:close/>
              </a:path>
            </a:pathLst>
          </a:custGeom>
          <a:blipFill>
            <a:blip r:embed="rId12">
              <a:extLst>
                <a:ext uri="{96DAC541-7B7A-43D3-8B79-37D633B846F1}">
                  <asvg:svgBlip xmlns:asvg="http://schemas.microsoft.com/office/drawing/2016/SVG/main" r:embed="rId13"/>
                </a:ext>
              </a:extLst>
            </a:blip>
            <a:stretch>
              <a:fillRect l="-757" t="0" r="-758" b="0"/>
            </a:stretch>
          </a:blipFill>
        </p:spPr>
      </p:sp>
      <p:sp>
        <p:nvSpPr>
          <p:cNvPr name="TextBox 19" id="19"/>
          <p:cNvSpPr txBox="true"/>
          <p:nvPr/>
        </p:nvSpPr>
        <p:spPr>
          <a:xfrm rot="0">
            <a:off x="9298934" y="5478809"/>
            <a:ext cx="7996828"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Matplotlib</a:t>
            </a:r>
          </a:p>
        </p:txBody>
      </p:sp>
      <p:sp>
        <p:nvSpPr>
          <p:cNvPr name="TextBox 20" id="20"/>
          <p:cNvSpPr txBox="true"/>
          <p:nvPr/>
        </p:nvSpPr>
        <p:spPr>
          <a:xfrm rot="0">
            <a:off x="9298934" y="5987063"/>
            <a:ext cx="7996828" cy="473126"/>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Charts and visualizations for results and diagnostics.</a:t>
            </a:r>
          </a:p>
        </p:txBody>
      </p:sp>
      <p:sp>
        <p:nvSpPr>
          <p:cNvPr name="Freeform 21" id="21" descr="preencoded.png"/>
          <p:cNvSpPr/>
          <p:nvPr/>
        </p:nvSpPr>
        <p:spPr>
          <a:xfrm flipH="false" flipV="false" rot="0">
            <a:off x="992238" y="6956222"/>
            <a:ext cx="620163" cy="620163"/>
          </a:xfrm>
          <a:custGeom>
            <a:avLst/>
            <a:gdLst/>
            <a:ahLst/>
            <a:cxnLst/>
            <a:rect r="r" b="b" t="t" l="l"/>
            <a:pathLst>
              <a:path h="620163" w="620163">
                <a:moveTo>
                  <a:pt x="0" y="0"/>
                </a:moveTo>
                <a:lnTo>
                  <a:pt x="620164" y="0"/>
                </a:lnTo>
                <a:lnTo>
                  <a:pt x="620164" y="620163"/>
                </a:lnTo>
                <a:lnTo>
                  <a:pt x="0" y="620163"/>
                </a:lnTo>
                <a:lnTo>
                  <a:pt x="0" y="0"/>
                </a:lnTo>
                <a:close/>
              </a:path>
            </a:pathLst>
          </a:custGeom>
          <a:blipFill>
            <a:blip r:embed="rId14">
              <a:extLst>
                <a:ext uri="{96DAC541-7B7A-43D3-8B79-37D633B846F1}">
                  <asvg:svgBlip xmlns:asvg="http://schemas.microsoft.com/office/drawing/2016/SVG/main" r:embed="rId15"/>
                </a:ext>
              </a:extLst>
            </a:blip>
            <a:stretch>
              <a:fillRect l="0" t="-37879" r="0" b="-37879"/>
            </a:stretch>
          </a:blipFill>
        </p:spPr>
      </p:sp>
      <p:sp>
        <p:nvSpPr>
          <p:cNvPr name="TextBox 22" id="22"/>
          <p:cNvSpPr txBox="true"/>
          <p:nvPr/>
        </p:nvSpPr>
        <p:spPr>
          <a:xfrm rot="0">
            <a:off x="992238" y="7857830"/>
            <a:ext cx="7996685"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XGBoost</a:t>
            </a:r>
          </a:p>
        </p:txBody>
      </p:sp>
      <p:sp>
        <p:nvSpPr>
          <p:cNvPr name="TextBox 23" id="23"/>
          <p:cNvSpPr txBox="true"/>
          <p:nvPr/>
        </p:nvSpPr>
        <p:spPr>
          <a:xfrm rot="0">
            <a:off x="992238" y="8366074"/>
            <a:ext cx="7996685" cy="870052"/>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High-performance gradient boosting implementation used for top performance.</a:t>
            </a:r>
          </a:p>
        </p:txBody>
      </p:sp>
      <p:sp>
        <p:nvSpPr>
          <p:cNvPr name="Freeform 24" id="24" descr="preencoded.png"/>
          <p:cNvSpPr/>
          <p:nvPr/>
        </p:nvSpPr>
        <p:spPr>
          <a:xfrm flipH="false" flipV="false" rot="0">
            <a:off x="9298934" y="6956222"/>
            <a:ext cx="620163" cy="620163"/>
          </a:xfrm>
          <a:custGeom>
            <a:avLst/>
            <a:gdLst/>
            <a:ahLst/>
            <a:cxnLst/>
            <a:rect r="r" b="b" t="t" l="l"/>
            <a:pathLst>
              <a:path h="620163" w="620163">
                <a:moveTo>
                  <a:pt x="0" y="0"/>
                </a:moveTo>
                <a:lnTo>
                  <a:pt x="620163" y="0"/>
                </a:lnTo>
                <a:lnTo>
                  <a:pt x="620163" y="620163"/>
                </a:lnTo>
                <a:lnTo>
                  <a:pt x="0" y="620163"/>
                </a:lnTo>
                <a:lnTo>
                  <a:pt x="0" y="0"/>
                </a:lnTo>
                <a:close/>
              </a:path>
            </a:pathLst>
          </a:custGeom>
          <a:blipFill>
            <a:blip r:embed="rId16">
              <a:extLst>
                <a:ext uri="{96DAC541-7B7A-43D3-8B79-37D633B846F1}">
                  <asvg:svgBlip xmlns:asvg="http://schemas.microsoft.com/office/drawing/2016/SVG/main" r:embed="rId17"/>
                </a:ext>
              </a:extLst>
            </a:blip>
            <a:stretch>
              <a:fillRect l="0" t="-5303" r="0" b="-5303"/>
            </a:stretch>
          </a:blipFill>
        </p:spPr>
      </p:sp>
      <p:sp>
        <p:nvSpPr>
          <p:cNvPr name="TextBox 25" id="25"/>
          <p:cNvSpPr txBox="true"/>
          <p:nvPr/>
        </p:nvSpPr>
        <p:spPr>
          <a:xfrm rot="0">
            <a:off x="9298934" y="7857830"/>
            <a:ext cx="7996828"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Jupyter Notebook</a:t>
            </a:r>
          </a:p>
        </p:txBody>
      </p:sp>
      <p:sp>
        <p:nvSpPr>
          <p:cNvPr name="TextBox 26" id="26"/>
          <p:cNvSpPr txBox="true"/>
          <p:nvPr/>
        </p:nvSpPr>
        <p:spPr>
          <a:xfrm rot="0">
            <a:off x="9298934" y="8366074"/>
            <a:ext cx="7996828" cy="870052"/>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Interactive development and experiment tracking during prototyping.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672703"/>
            <a:ext cx="16303523" cy="335013"/>
          </a:xfrm>
          <a:prstGeom prst="rect">
            <a:avLst/>
          </a:prstGeom>
        </p:spPr>
        <p:txBody>
          <a:bodyPr anchor="t" rtlCol="false" tIns="0" lIns="0" bIns="0" rIns="0">
            <a:spAutoFit/>
          </a:bodyPr>
          <a:lstStyle/>
          <a:p>
            <a:pPr algn="l">
              <a:lnSpc>
                <a:spcPts val="2496"/>
              </a:lnSpc>
            </a:pPr>
            <a:r>
              <a:rPr lang="en-US" sz="2000" b="true">
                <a:solidFill>
                  <a:srgbClr val="000000"/>
                </a:solidFill>
                <a:latin typeface="Petrona Bold"/>
                <a:ea typeface="Petrona Bold"/>
                <a:cs typeface="Petrona Bold"/>
                <a:sym typeface="Petrona Bold"/>
              </a:rPr>
              <a:t>Results — Model Comparison</a:t>
            </a:r>
          </a:p>
        </p:txBody>
      </p:sp>
      <p:sp>
        <p:nvSpPr>
          <p:cNvPr name="TextBox 9" id="9"/>
          <p:cNvSpPr txBox="true"/>
          <p:nvPr/>
        </p:nvSpPr>
        <p:spPr>
          <a:xfrm rot="0">
            <a:off x="992238" y="1131694"/>
            <a:ext cx="17217923" cy="148676"/>
          </a:xfrm>
          <a:prstGeom prst="rect">
            <a:avLst/>
          </a:prstGeom>
        </p:spPr>
        <p:txBody>
          <a:bodyPr anchor="t" rtlCol="false" tIns="0" lIns="0" bIns="0" rIns="0">
            <a:spAutoFit/>
          </a:bodyPr>
          <a:lstStyle/>
          <a:p>
            <a:pPr algn="l">
              <a:lnSpc>
                <a:spcPts val="1080"/>
              </a:lnSpc>
            </a:pPr>
            <a:r>
              <a:rPr lang="en-US" sz="900">
                <a:solidFill>
                  <a:srgbClr val="272525"/>
                </a:solidFill>
                <a:latin typeface="Inter"/>
                <a:ea typeface="Inter"/>
                <a:cs typeface="Inter"/>
                <a:sym typeface="Inter"/>
              </a:rPr>
              <a:t> Comparison of model accuracy on a held-out test set. Bars show accuracy percentages; the top performer is highlighted in blue. </a:t>
            </a:r>
          </a:p>
        </p:txBody>
      </p:sp>
      <p:grpSp>
        <p:nvGrpSpPr>
          <p:cNvPr name="Group 10" id="10"/>
          <p:cNvGrpSpPr/>
          <p:nvPr/>
        </p:nvGrpSpPr>
        <p:grpSpPr>
          <a:xfrm rot="0">
            <a:off x="992238" y="1350016"/>
            <a:ext cx="16303523" cy="9129865"/>
            <a:chOff x="0" y="0"/>
            <a:chExt cx="21738031" cy="12173153"/>
          </a:xfrm>
        </p:grpSpPr>
        <p:sp>
          <p:nvSpPr>
            <p:cNvPr name="Freeform 11" id="11" descr="preencoded.png"/>
            <p:cNvSpPr/>
            <p:nvPr/>
          </p:nvSpPr>
          <p:spPr>
            <a:xfrm flipH="false" flipV="false" rot="0">
              <a:off x="0" y="0"/>
              <a:ext cx="21738082" cy="12173204"/>
            </a:xfrm>
            <a:custGeom>
              <a:avLst/>
              <a:gdLst/>
              <a:ahLst/>
              <a:cxnLst/>
              <a:rect r="r" b="b" t="t" l="l"/>
              <a:pathLst>
                <a:path h="12173204" w="21738082">
                  <a:moveTo>
                    <a:pt x="0" y="0"/>
                  </a:moveTo>
                  <a:lnTo>
                    <a:pt x="21738082" y="0"/>
                  </a:lnTo>
                  <a:lnTo>
                    <a:pt x="21738082" y="12173204"/>
                  </a:lnTo>
                  <a:lnTo>
                    <a:pt x="0" y="12173204"/>
                  </a:lnTo>
                  <a:lnTo>
                    <a:pt x="0" y="0"/>
                  </a:lnTo>
                  <a:close/>
                </a:path>
              </a:pathLst>
            </a:custGeom>
            <a:blipFill>
              <a:blip r:embed="rId6"/>
              <a:stretch>
                <a:fillRect l="0" t="-15" r="0" b="-14"/>
              </a:stretch>
            </a:blipFill>
          </p:spPr>
        </p:sp>
      </p:grpSp>
      <p:sp>
        <p:nvSpPr>
          <p:cNvPr name="TextBox 12" id="12"/>
          <p:cNvSpPr txBox="true"/>
          <p:nvPr/>
        </p:nvSpPr>
        <p:spPr>
          <a:xfrm rot="0">
            <a:off x="992238" y="10549528"/>
            <a:ext cx="17217923" cy="148676"/>
          </a:xfrm>
          <a:prstGeom prst="rect">
            <a:avLst/>
          </a:prstGeom>
        </p:spPr>
        <p:txBody>
          <a:bodyPr anchor="t" rtlCol="false" tIns="0" lIns="0" bIns="0" rIns="0">
            <a:spAutoFit/>
          </a:bodyPr>
          <a:lstStyle/>
          <a:p>
            <a:pPr algn="l">
              <a:lnSpc>
                <a:spcPts val="1080"/>
              </a:lnSpc>
            </a:pPr>
            <a:r>
              <a:rPr lang="en-US" sz="900">
                <a:solidFill>
                  <a:srgbClr val="272525"/>
                </a:solidFill>
                <a:latin typeface="Inter"/>
                <a:ea typeface="Inter"/>
                <a:cs typeface="Inter"/>
                <a:sym typeface="Inter"/>
              </a:rPr>
              <a:t> Key result: XGBoost achieved the highest accuracy (87%), followed by Random Forest (84%). These ensemble methods provided the best balance of performance and robustness on our dataset.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662730"/>
            <a:ext cx="16303523" cy="435616"/>
          </a:xfrm>
          <a:prstGeom prst="rect">
            <a:avLst/>
          </a:prstGeom>
        </p:spPr>
        <p:txBody>
          <a:bodyPr anchor="t" rtlCol="false" tIns="0" lIns="0" bIns="0" rIns="0">
            <a:spAutoFit/>
          </a:bodyPr>
          <a:lstStyle/>
          <a:p>
            <a:pPr algn="l">
              <a:lnSpc>
                <a:spcPts val="3119"/>
              </a:lnSpc>
            </a:pPr>
            <a:r>
              <a:rPr lang="en-US" sz="2499" b="true">
                <a:solidFill>
                  <a:srgbClr val="000000"/>
                </a:solidFill>
                <a:latin typeface="Petrona Bold"/>
                <a:ea typeface="Petrona Bold"/>
                <a:cs typeface="Petrona Bold"/>
                <a:sym typeface="Petrona Bold"/>
              </a:rPr>
              <a:t>How the Model Makes Decisions — Examples</a:t>
            </a:r>
          </a:p>
        </p:txBody>
      </p:sp>
      <p:grpSp>
        <p:nvGrpSpPr>
          <p:cNvPr name="Group 9" id="9"/>
          <p:cNvGrpSpPr/>
          <p:nvPr/>
        </p:nvGrpSpPr>
        <p:grpSpPr>
          <a:xfrm rot="0">
            <a:off x="1954854" y="1292123"/>
            <a:ext cx="14378283" cy="7791602"/>
            <a:chOff x="0" y="0"/>
            <a:chExt cx="19171044" cy="10388803"/>
          </a:xfrm>
        </p:grpSpPr>
        <p:sp>
          <p:nvSpPr>
            <p:cNvPr name="Freeform 10" id="10" descr="preencoded.png"/>
            <p:cNvSpPr/>
            <p:nvPr/>
          </p:nvSpPr>
          <p:spPr>
            <a:xfrm flipH="false" flipV="false" rot="0">
              <a:off x="0" y="0"/>
              <a:ext cx="19171031" cy="10388854"/>
            </a:xfrm>
            <a:custGeom>
              <a:avLst/>
              <a:gdLst/>
              <a:ahLst/>
              <a:cxnLst/>
              <a:rect r="r" b="b" t="t" l="l"/>
              <a:pathLst>
                <a:path h="10388854" w="19171031">
                  <a:moveTo>
                    <a:pt x="0" y="0"/>
                  </a:moveTo>
                  <a:lnTo>
                    <a:pt x="19171031" y="0"/>
                  </a:lnTo>
                  <a:lnTo>
                    <a:pt x="19171031" y="10388854"/>
                  </a:lnTo>
                  <a:lnTo>
                    <a:pt x="0" y="10388854"/>
                  </a:lnTo>
                  <a:lnTo>
                    <a:pt x="0" y="0"/>
                  </a:lnTo>
                  <a:close/>
                </a:path>
              </a:pathLst>
            </a:custGeom>
            <a:blipFill>
              <a:blip r:embed="rId6"/>
              <a:stretch>
                <a:fillRect l="0" t="-44" r="0" b="-44"/>
              </a:stretch>
            </a:blipFill>
          </p:spPr>
        </p:sp>
      </p:grpSp>
      <p:sp>
        <p:nvSpPr>
          <p:cNvPr name="TextBox 11" id="11"/>
          <p:cNvSpPr txBox="true"/>
          <p:nvPr/>
        </p:nvSpPr>
        <p:spPr>
          <a:xfrm rot="0">
            <a:off x="2761831" y="3603774"/>
            <a:ext cx="3851615" cy="500501"/>
          </a:xfrm>
          <a:prstGeom prst="rect">
            <a:avLst/>
          </a:prstGeom>
        </p:spPr>
        <p:txBody>
          <a:bodyPr anchor="t" rtlCol="false" tIns="0" lIns="0" bIns="0" rIns="0">
            <a:spAutoFit/>
          </a:bodyPr>
          <a:lstStyle/>
          <a:p>
            <a:pPr algn="ctr">
              <a:lnSpc>
                <a:spcPts val="3744"/>
              </a:lnSpc>
            </a:pPr>
            <a:r>
              <a:rPr lang="en-US" sz="3000" b="true">
                <a:solidFill>
                  <a:srgbClr val="FFFFFF"/>
                </a:solidFill>
                <a:latin typeface="Petrona Bold"/>
                <a:ea typeface="Petrona Bold"/>
                <a:cs typeface="Petrona Bold"/>
                <a:sym typeface="Petrona Bold"/>
              </a:rPr>
              <a:t>Approved Case</a:t>
            </a:r>
          </a:p>
        </p:txBody>
      </p:sp>
      <p:sp>
        <p:nvSpPr>
          <p:cNvPr name="TextBox 12" id="12"/>
          <p:cNvSpPr txBox="true"/>
          <p:nvPr/>
        </p:nvSpPr>
        <p:spPr>
          <a:xfrm rot="0">
            <a:off x="2666048" y="4272801"/>
            <a:ext cx="4043182" cy="557984"/>
          </a:xfrm>
          <a:prstGeom prst="rect">
            <a:avLst/>
          </a:prstGeom>
        </p:spPr>
        <p:txBody>
          <a:bodyPr anchor="t" rtlCol="false" tIns="0" lIns="0" bIns="0" rIns="0">
            <a:spAutoFit/>
          </a:bodyPr>
          <a:lstStyle/>
          <a:p>
            <a:pPr algn="ctr">
              <a:lnSpc>
                <a:spcPts val="2346"/>
              </a:lnSpc>
            </a:pPr>
            <a:r>
              <a:rPr lang="en-US" sz="2300">
                <a:solidFill>
                  <a:srgbClr val="FFFFFF"/>
                </a:solidFill>
                <a:latin typeface="Inter"/>
                <a:ea typeface="Inter"/>
                <a:cs typeface="Inter"/>
                <a:sym typeface="Inter"/>
              </a:rPr>
              <a:t>High income, strong credit, stable employment</a:t>
            </a:r>
          </a:p>
        </p:txBody>
      </p:sp>
      <p:sp>
        <p:nvSpPr>
          <p:cNvPr name="TextBox 13" id="13"/>
          <p:cNvSpPr txBox="true"/>
          <p:nvPr/>
        </p:nvSpPr>
        <p:spPr>
          <a:xfrm rot="0">
            <a:off x="11663343" y="6570945"/>
            <a:ext cx="3851615" cy="500501"/>
          </a:xfrm>
          <a:prstGeom prst="rect">
            <a:avLst/>
          </a:prstGeom>
        </p:spPr>
        <p:txBody>
          <a:bodyPr anchor="t" rtlCol="false" tIns="0" lIns="0" bIns="0" rIns="0">
            <a:spAutoFit/>
          </a:bodyPr>
          <a:lstStyle/>
          <a:p>
            <a:pPr algn="ctr">
              <a:lnSpc>
                <a:spcPts val="3744"/>
              </a:lnSpc>
            </a:pPr>
            <a:r>
              <a:rPr lang="en-US" sz="3000" b="true">
                <a:solidFill>
                  <a:srgbClr val="FFFFFF"/>
                </a:solidFill>
                <a:latin typeface="Petrona Bold"/>
                <a:ea typeface="Petrona Bold"/>
                <a:cs typeface="Petrona Bold"/>
                <a:sym typeface="Petrona Bold"/>
              </a:rPr>
              <a:t>Rejected Case</a:t>
            </a:r>
          </a:p>
        </p:txBody>
      </p:sp>
      <p:sp>
        <p:nvSpPr>
          <p:cNvPr name="TextBox 14" id="14"/>
          <p:cNvSpPr txBox="true"/>
          <p:nvPr/>
        </p:nvSpPr>
        <p:spPr>
          <a:xfrm rot="0">
            <a:off x="11567560" y="7239972"/>
            <a:ext cx="4043182" cy="557984"/>
          </a:xfrm>
          <a:prstGeom prst="rect">
            <a:avLst/>
          </a:prstGeom>
        </p:spPr>
        <p:txBody>
          <a:bodyPr anchor="t" rtlCol="false" tIns="0" lIns="0" bIns="0" rIns="0">
            <a:spAutoFit/>
          </a:bodyPr>
          <a:lstStyle/>
          <a:p>
            <a:pPr algn="ctr">
              <a:lnSpc>
                <a:spcPts val="2346"/>
              </a:lnSpc>
            </a:pPr>
            <a:r>
              <a:rPr lang="en-US" sz="2300">
                <a:solidFill>
                  <a:srgbClr val="FFFFFF"/>
                </a:solidFill>
                <a:latin typeface="Inter"/>
                <a:ea typeface="Inter"/>
                <a:cs typeface="Inter"/>
                <a:sym typeface="Inter"/>
              </a:rPr>
              <a:t>Low credit, large loan, short employment</a:t>
            </a:r>
          </a:p>
        </p:txBody>
      </p:sp>
      <p:sp>
        <p:nvSpPr>
          <p:cNvPr name="TextBox 15" id="15"/>
          <p:cNvSpPr txBox="true"/>
          <p:nvPr/>
        </p:nvSpPr>
        <p:spPr>
          <a:xfrm rot="0">
            <a:off x="992238" y="9173613"/>
            <a:ext cx="16303523" cy="422072"/>
          </a:xfrm>
          <a:prstGeom prst="rect">
            <a:avLst/>
          </a:prstGeom>
        </p:spPr>
        <p:txBody>
          <a:bodyPr anchor="t" rtlCol="false" tIns="0" lIns="0" bIns="0" rIns="0">
            <a:spAutoFit/>
          </a:bodyPr>
          <a:lstStyle/>
          <a:p>
            <a:pPr algn="l">
              <a:lnSpc>
                <a:spcPts val="1555"/>
              </a:lnSpc>
            </a:pPr>
            <a:r>
              <a:rPr lang="en-US" sz="1200">
                <a:solidFill>
                  <a:srgbClr val="272525"/>
                </a:solidFill>
                <a:latin typeface="Inter"/>
                <a:ea typeface="Inter"/>
                <a:cs typeface="Inter"/>
                <a:sym typeface="Inter"/>
              </a:rPr>
              <a:t> Example 1: Applicant with high income, strong credit score, and multi-year employment is predicted Approved — model weights favor positive credit indicators. Example 2: Applicant with low credit score, large requested loan relative to income, and short employment history is predicted Rejected — risk features dominate the decision.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3426771"/>
            <a:ext cx="16303523" cy="679847"/>
          </a:xfrm>
          <a:prstGeom prst="rect">
            <a:avLst/>
          </a:prstGeom>
        </p:spPr>
        <p:txBody>
          <a:bodyPr anchor="t" rtlCol="false" tIns="0" lIns="0" bIns="0" rIns="0">
            <a:spAutoFit/>
          </a:bodyPr>
          <a:lstStyle/>
          <a:p>
            <a:pPr algn="l">
              <a:lnSpc>
                <a:spcPts val="5116"/>
              </a:lnSpc>
            </a:pPr>
            <a:r>
              <a:rPr lang="en-US" sz="4100" b="true">
                <a:solidFill>
                  <a:srgbClr val="000000"/>
                </a:solidFill>
                <a:latin typeface="Petrona Bold"/>
                <a:ea typeface="Petrona Bold"/>
                <a:cs typeface="Petrona Bold"/>
                <a:sym typeface="Petrona Bold"/>
              </a:rPr>
              <a:t>Key Takeaways</a:t>
            </a:r>
          </a:p>
        </p:txBody>
      </p:sp>
      <p:grpSp>
        <p:nvGrpSpPr>
          <p:cNvPr name="Group 9" id="9"/>
          <p:cNvGrpSpPr/>
          <p:nvPr/>
        </p:nvGrpSpPr>
        <p:grpSpPr>
          <a:xfrm rot="0">
            <a:off x="987476" y="4597898"/>
            <a:ext cx="567633" cy="567633"/>
            <a:chOff x="0" y="0"/>
            <a:chExt cx="756844" cy="756844"/>
          </a:xfrm>
        </p:grpSpPr>
        <p:sp>
          <p:nvSpPr>
            <p:cNvPr name="Freeform 10" id="10"/>
            <p:cNvSpPr/>
            <p:nvPr/>
          </p:nvSpPr>
          <p:spPr>
            <a:xfrm flipH="false" flipV="false" rot="0">
              <a:off x="0" y="0"/>
              <a:ext cx="756920" cy="756920"/>
            </a:xfrm>
            <a:custGeom>
              <a:avLst/>
              <a:gdLst/>
              <a:ahLst/>
              <a:cxnLst/>
              <a:rect r="r" b="b" t="t" l="l"/>
              <a:pathLst>
                <a:path h="756920" w="756920">
                  <a:moveTo>
                    <a:pt x="0" y="141351"/>
                  </a:moveTo>
                  <a:cubicBezTo>
                    <a:pt x="0" y="63246"/>
                    <a:pt x="63246" y="0"/>
                    <a:pt x="141351" y="0"/>
                  </a:cubicBezTo>
                  <a:lnTo>
                    <a:pt x="615569" y="0"/>
                  </a:lnTo>
                  <a:cubicBezTo>
                    <a:pt x="693547" y="0"/>
                    <a:pt x="756920" y="63246"/>
                    <a:pt x="756920" y="141351"/>
                  </a:cubicBezTo>
                  <a:lnTo>
                    <a:pt x="756920" y="615569"/>
                  </a:lnTo>
                  <a:cubicBezTo>
                    <a:pt x="756920" y="693547"/>
                    <a:pt x="693674" y="756920"/>
                    <a:pt x="615569" y="756920"/>
                  </a:cubicBezTo>
                  <a:lnTo>
                    <a:pt x="141351" y="756920"/>
                  </a:lnTo>
                  <a:cubicBezTo>
                    <a:pt x="63246" y="756793"/>
                    <a:pt x="0" y="693547"/>
                    <a:pt x="0" y="615569"/>
                  </a:cubicBezTo>
                  <a:close/>
                </a:path>
              </a:pathLst>
            </a:custGeom>
            <a:solidFill>
              <a:srgbClr val="CCEEFF"/>
            </a:solidFill>
            <a:ln w="9526" cap="sq">
              <a:solidFill>
                <a:srgbClr val="B2D4E5"/>
              </a:solidFill>
              <a:prstDash val="solid"/>
              <a:miter/>
            </a:ln>
          </p:spPr>
        </p:sp>
      </p:grpSp>
      <p:sp>
        <p:nvSpPr>
          <p:cNvPr name="TextBox 11" id="11"/>
          <p:cNvSpPr txBox="true"/>
          <p:nvPr/>
        </p:nvSpPr>
        <p:spPr>
          <a:xfrm rot="0">
            <a:off x="1798291" y="4659363"/>
            <a:ext cx="4421686"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Accuracy</a:t>
            </a:r>
          </a:p>
        </p:txBody>
      </p:sp>
      <p:sp>
        <p:nvSpPr>
          <p:cNvPr name="TextBox 12" id="12"/>
          <p:cNvSpPr txBox="true"/>
          <p:nvPr/>
        </p:nvSpPr>
        <p:spPr>
          <a:xfrm rot="0">
            <a:off x="1798291" y="5167608"/>
            <a:ext cx="4421686" cy="1266977"/>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XGBoost produced the best result: 87% test accuracy on this 500-sample dataset.</a:t>
            </a:r>
          </a:p>
        </p:txBody>
      </p:sp>
      <p:grpSp>
        <p:nvGrpSpPr>
          <p:cNvPr name="Group 13" id="13"/>
          <p:cNvGrpSpPr/>
          <p:nvPr/>
        </p:nvGrpSpPr>
        <p:grpSpPr>
          <a:xfrm rot="0">
            <a:off x="6525216" y="4597898"/>
            <a:ext cx="567633" cy="567633"/>
            <a:chOff x="0" y="0"/>
            <a:chExt cx="756844" cy="756844"/>
          </a:xfrm>
        </p:grpSpPr>
        <p:sp>
          <p:nvSpPr>
            <p:cNvPr name="Freeform 14" id="14"/>
            <p:cNvSpPr/>
            <p:nvPr/>
          </p:nvSpPr>
          <p:spPr>
            <a:xfrm flipH="false" flipV="false" rot="0">
              <a:off x="0" y="0"/>
              <a:ext cx="756920" cy="756920"/>
            </a:xfrm>
            <a:custGeom>
              <a:avLst/>
              <a:gdLst/>
              <a:ahLst/>
              <a:cxnLst/>
              <a:rect r="r" b="b" t="t" l="l"/>
              <a:pathLst>
                <a:path h="756920" w="756920">
                  <a:moveTo>
                    <a:pt x="0" y="141351"/>
                  </a:moveTo>
                  <a:cubicBezTo>
                    <a:pt x="0" y="63246"/>
                    <a:pt x="63246" y="0"/>
                    <a:pt x="141351" y="0"/>
                  </a:cubicBezTo>
                  <a:lnTo>
                    <a:pt x="615569" y="0"/>
                  </a:lnTo>
                  <a:cubicBezTo>
                    <a:pt x="693547" y="0"/>
                    <a:pt x="756920" y="63246"/>
                    <a:pt x="756920" y="141351"/>
                  </a:cubicBezTo>
                  <a:lnTo>
                    <a:pt x="756920" y="615569"/>
                  </a:lnTo>
                  <a:cubicBezTo>
                    <a:pt x="756920" y="693547"/>
                    <a:pt x="693674" y="756920"/>
                    <a:pt x="615569" y="756920"/>
                  </a:cubicBezTo>
                  <a:lnTo>
                    <a:pt x="141351" y="756920"/>
                  </a:lnTo>
                  <a:cubicBezTo>
                    <a:pt x="63246" y="756793"/>
                    <a:pt x="0" y="693547"/>
                    <a:pt x="0" y="615569"/>
                  </a:cubicBezTo>
                  <a:close/>
                </a:path>
              </a:pathLst>
            </a:custGeom>
            <a:solidFill>
              <a:srgbClr val="CCEEFF"/>
            </a:solidFill>
            <a:ln w="9526" cap="sq">
              <a:solidFill>
                <a:srgbClr val="B2D4E5"/>
              </a:solidFill>
              <a:prstDash val="solid"/>
              <a:miter/>
            </a:ln>
          </p:spPr>
        </p:sp>
      </p:grpSp>
      <p:sp>
        <p:nvSpPr>
          <p:cNvPr name="TextBox 15" id="15"/>
          <p:cNvSpPr txBox="true"/>
          <p:nvPr/>
        </p:nvSpPr>
        <p:spPr>
          <a:xfrm rot="0">
            <a:off x="7336041" y="4659363"/>
            <a:ext cx="4421829"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Important Drivers</a:t>
            </a:r>
          </a:p>
        </p:txBody>
      </p:sp>
      <p:sp>
        <p:nvSpPr>
          <p:cNvPr name="TextBox 16" id="16"/>
          <p:cNvSpPr txBox="true"/>
          <p:nvPr/>
        </p:nvSpPr>
        <p:spPr>
          <a:xfrm rot="0">
            <a:off x="7336041" y="5167608"/>
            <a:ext cx="4421829" cy="1266977"/>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Credit score, debt-to-income ratio, and employment tenure were the strongest predictors of approval.</a:t>
            </a:r>
          </a:p>
        </p:txBody>
      </p:sp>
      <p:grpSp>
        <p:nvGrpSpPr>
          <p:cNvPr name="Group 17" id="17"/>
          <p:cNvGrpSpPr/>
          <p:nvPr/>
        </p:nvGrpSpPr>
        <p:grpSpPr>
          <a:xfrm rot="0">
            <a:off x="12063117" y="4597898"/>
            <a:ext cx="567633" cy="567633"/>
            <a:chOff x="0" y="0"/>
            <a:chExt cx="756844" cy="756844"/>
          </a:xfrm>
        </p:grpSpPr>
        <p:sp>
          <p:nvSpPr>
            <p:cNvPr name="Freeform 18" id="18"/>
            <p:cNvSpPr/>
            <p:nvPr/>
          </p:nvSpPr>
          <p:spPr>
            <a:xfrm flipH="false" flipV="false" rot="0">
              <a:off x="0" y="0"/>
              <a:ext cx="756920" cy="756920"/>
            </a:xfrm>
            <a:custGeom>
              <a:avLst/>
              <a:gdLst/>
              <a:ahLst/>
              <a:cxnLst/>
              <a:rect r="r" b="b" t="t" l="l"/>
              <a:pathLst>
                <a:path h="756920" w="756920">
                  <a:moveTo>
                    <a:pt x="0" y="141351"/>
                  </a:moveTo>
                  <a:cubicBezTo>
                    <a:pt x="0" y="63246"/>
                    <a:pt x="63246" y="0"/>
                    <a:pt x="141351" y="0"/>
                  </a:cubicBezTo>
                  <a:lnTo>
                    <a:pt x="615569" y="0"/>
                  </a:lnTo>
                  <a:cubicBezTo>
                    <a:pt x="693547" y="0"/>
                    <a:pt x="756920" y="63246"/>
                    <a:pt x="756920" y="141351"/>
                  </a:cubicBezTo>
                  <a:lnTo>
                    <a:pt x="756920" y="615569"/>
                  </a:lnTo>
                  <a:cubicBezTo>
                    <a:pt x="756920" y="693547"/>
                    <a:pt x="693674" y="756920"/>
                    <a:pt x="615569" y="756920"/>
                  </a:cubicBezTo>
                  <a:lnTo>
                    <a:pt x="141351" y="756920"/>
                  </a:lnTo>
                  <a:cubicBezTo>
                    <a:pt x="63246" y="756793"/>
                    <a:pt x="0" y="693547"/>
                    <a:pt x="0" y="615569"/>
                  </a:cubicBezTo>
                  <a:close/>
                </a:path>
              </a:pathLst>
            </a:custGeom>
            <a:solidFill>
              <a:srgbClr val="CCEEFF"/>
            </a:solidFill>
            <a:ln w="9526" cap="sq">
              <a:solidFill>
                <a:srgbClr val="B2D4E5"/>
              </a:solidFill>
              <a:prstDash val="solid"/>
              <a:miter/>
            </a:ln>
          </p:spPr>
        </p:sp>
      </p:grpSp>
      <p:sp>
        <p:nvSpPr>
          <p:cNvPr name="TextBox 19" id="19"/>
          <p:cNvSpPr txBox="true"/>
          <p:nvPr/>
        </p:nvSpPr>
        <p:spPr>
          <a:xfrm rot="0">
            <a:off x="12873933" y="4659363"/>
            <a:ext cx="4421829" cy="435616"/>
          </a:xfrm>
          <a:prstGeom prst="rect">
            <a:avLst/>
          </a:prstGeom>
        </p:spPr>
        <p:txBody>
          <a:bodyPr anchor="t" rtlCol="false" tIns="0" lIns="0" bIns="0" rIns="0">
            <a:spAutoFit/>
          </a:bodyPr>
          <a:lstStyle/>
          <a:p>
            <a:pPr algn="l">
              <a:lnSpc>
                <a:spcPts val="3119"/>
              </a:lnSpc>
            </a:pPr>
            <a:r>
              <a:rPr lang="en-US" sz="2499" b="true">
                <a:solidFill>
                  <a:srgbClr val="272525"/>
                </a:solidFill>
                <a:latin typeface="Petrona Bold"/>
                <a:ea typeface="Petrona Bold"/>
                <a:cs typeface="Petrona Bold"/>
                <a:sym typeface="Petrona Bold"/>
              </a:rPr>
              <a:t>Operational Benefit</a:t>
            </a:r>
          </a:p>
        </p:txBody>
      </p:sp>
      <p:sp>
        <p:nvSpPr>
          <p:cNvPr name="TextBox 20" id="20"/>
          <p:cNvSpPr txBox="true"/>
          <p:nvPr/>
        </p:nvSpPr>
        <p:spPr>
          <a:xfrm rot="0">
            <a:off x="12873933" y="5167608"/>
            <a:ext cx="4421829" cy="1663894"/>
          </a:xfrm>
          <a:prstGeom prst="rect">
            <a:avLst/>
          </a:prstGeom>
        </p:spPr>
        <p:txBody>
          <a:bodyPr anchor="t" rtlCol="false" tIns="0" lIns="0" bIns="0" rIns="0">
            <a:spAutoFit/>
          </a:bodyPr>
          <a:lstStyle/>
          <a:p>
            <a:pPr algn="l">
              <a:lnSpc>
                <a:spcPts val="3032"/>
              </a:lnSpc>
            </a:pPr>
            <a:r>
              <a:rPr lang="en-US" sz="1900">
                <a:solidFill>
                  <a:srgbClr val="272525"/>
                </a:solidFill>
                <a:latin typeface="Inter"/>
                <a:ea typeface="Inter"/>
                <a:cs typeface="Inter"/>
                <a:sym typeface="Inter"/>
              </a:rPr>
              <a:t>Model can accelerate decisioning, reduce manual workload, and provide consistent recommendations for frontline loan officers.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31571" r="0" b="-31571"/>
              </a:stretch>
            </a:blipFill>
          </p:spPr>
        </p:sp>
      </p:grpSp>
      <p:sp>
        <p:nvSpPr>
          <p:cNvPr name="TextBox 8" id="8"/>
          <p:cNvSpPr txBox="true"/>
          <p:nvPr/>
        </p:nvSpPr>
        <p:spPr>
          <a:xfrm rot="0">
            <a:off x="992238" y="2787406"/>
            <a:ext cx="16303523" cy="679847"/>
          </a:xfrm>
          <a:prstGeom prst="rect">
            <a:avLst/>
          </a:prstGeom>
        </p:spPr>
        <p:txBody>
          <a:bodyPr anchor="t" rtlCol="false" tIns="0" lIns="0" bIns="0" rIns="0">
            <a:spAutoFit/>
          </a:bodyPr>
          <a:lstStyle/>
          <a:p>
            <a:pPr algn="l">
              <a:lnSpc>
                <a:spcPts val="5116"/>
              </a:lnSpc>
            </a:pPr>
            <a:r>
              <a:rPr lang="en-US" sz="4100" b="true">
                <a:solidFill>
                  <a:srgbClr val="000000"/>
                </a:solidFill>
                <a:latin typeface="Petrona Bold"/>
                <a:ea typeface="Petrona Bold"/>
                <a:cs typeface="Petrona Bold"/>
                <a:sym typeface="Petrona Bold"/>
              </a:rPr>
              <a:t>Next Steps &amp; Recommendations</a:t>
            </a:r>
          </a:p>
        </p:txBody>
      </p:sp>
      <p:grpSp>
        <p:nvGrpSpPr>
          <p:cNvPr name="Group 9" id="9"/>
          <p:cNvGrpSpPr/>
          <p:nvPr/>
        </p:nvGrpSpPr>
        <p:grpSpPr>
          <a:xfrm rot="0">
            <a:off x="813645" y="3839318"/>
            <a:ext cx="6515395" cy="3631559"/>
            <a:chOff x="0" y="0"/>
            <a:chExt cx="8687194" cy="4842078"/>
          </a:xfrm>
        </p:grpSpPr>
        <p:sp>
          <p:nvSpPr>
            <p:cNvPr name="Freeform 10" id="10"/>
            <p:cNvSpPr/>
            <p:nvPr/>
          </p:nvSpPr>
          <p:spPr>
            <a:xfrm flipH="false" flipV="false" rot="0">
              <a:off x="0" y="0"/>
              <a:ext cx="8687181" cy="4842002"/>
            </a:xfrm>
            <a:custGeom>
              <a:avLst/>
              <a:gdLst/>
              <a:ahLst/>
              <a:cxnLst/>
              <a:rect r="r" b="b" t="t" l="l"/>
              <a:pathLst>
                <a:path h="4842002" w="8687181">
                  <a:moveTo>
                    <a:pt x="0" y="238125"/>
                  </a:moveTo>
                  <a:cubicBezTo>
                    <a:pt x="0" y="106680"/>
                    <a:pt x="106680" y="0"/>
                    <a:pt x="238125" y="0"/>
                  </a:cubicBezTo>
                  <a:lnTo>
                    <a:pt x="8449056" y="0"/>
                  </a:lnTo>
                  <a:cubicBezTo>
                    <a:pt x="8580628" y="0"/>
                    <a:pt x="8687181" y="106680"/>
                    <a:pt x="8687181" y="238125"/>
                  </a:cubicBezTo>
                  <a:lnTo>
                    <a:pt x="8687181" y="4603877"/>
                  </a:lnTo>
                  <a:cubicBezTo>
                    <a:pt x="8687181" y="4735449"/>
                    <a:pt x="8580501" y="4842002"/>
                    <a:pt x="8449056" y="4842002"/>
                  </a:cubicBezTo>
                  <a:lnTo>
                    <a:pt x="238125" y="4842002"/>
                  </a:lnTo>
                  <a:cubicBezTo>
                    <a:pt x="106680" y="4842129"/>
                    <a:pt x="0" y="4735449"/>
                    <a:pt x="0" y="4603877"/>
                  </a:cubicBezTo>
                  <a:close/>
                </a:path>
              </a:pathLst>
            </a:custGeom>
            <a:solidFill>
              <a:srgbClr val="007EBD">
                <a:alpha val="90196"/>
              </a:srgbClr>
            </a:solidFill>
          </p:spPr>
        </p:sp>
      </p:grpSp>
      <p:sp>
        <p:nvSpPr>
          <p:cNvPr name="TextBox 11" id="11"/>
          <p:cNvSpPr txBox="true"/>
          <p:nvPr/>
        </p:nvSpPr>
        <p:spPr>
          <a:xfrm rot="0">
            <a:off x="1061590" y="4058688"/>
            <a:ext cx="6019505" cy="435616"/>
          </a:xfrm>
          <a:prstGeom prst="rect">
            <a:avLst/>
          </a:prstGeom>
        </p:spPr>
        <p:txBody>
          <a:bodyPr anchor="t" rtlCol="false" tIns="0" lIns="0" bIns="0" rIns="0">
            <a:spAutoFit/>
          </a:bodyPr>
          <a:lstStyle/>
          <a:p>
            <a:pPr algn="ctr">
              <a:lnSpc>
                <a:spcPts val="3119"/>
              </a:lnSpc>
            </a:pPr>
            <a:r>
              <a:rPr lang="en-US" sz="2499" b="true">
                <a:solidFill>
                  <a:srgbClr val="000000"/>
                </a:solidFill>
                <a:latin typeface="Petrona Bold"/>
                <a:ea typeface="Petrona Bold"/>
                <a:cs typeface="Petrona Bold"/>
                <a:sym typeface="Petrona Bold"/>
              </a:rPr>
              <a:t>Immediate</a:t>
            </a:r>
          </a:p>
        </p:txBody>
      </p:sp>
      <p:sp>
        <p:nvSpPr>
          <p:cNvPr name="TextBox 12" id="12"/>
          <p:cNvSpPr txBox="true"/>
          <p:nvPr/>
        </p:nvSpPr>
        <p:spPr>
          <a:xfrm rot="0">
            <a:off x="1061590" y="4666059"/>
            <a:ext cx="6019505" cy="870052"/>
          </a:xfrm>
          <a:prstGeom prst="rect">
            <a:avLst/>
          </a:prstGeom>
        </p:spPr>
        <p:txBody>
          <a:bodyPr anchor="t" rtlCol="false" tIns="0" lIns="0" bIns="0" rIns="0">
            <a:spAutoFit/>
          </a:bodyPr>
          <a:lstStyle/>
          <a:p>
            <a:pPr algn="ctr">
              <a:lnSpc>
                <a:spcPts val="3032"/>
              </a:lnSpc>
            </a:pPr>
            <a:r>
              <a:rPr lang="en-US" sz="1900">
                <a:solidFill>
                  <a:srgbClr val="000000"/>
                </a:solidFill>
                <a:latin typeface="Inter"/>
                <a:ea typeface="Inter"/>
                <a:cs typeface="Inter"/>
                <a:sym typeface="Inter"/>
              </a:rPr>
              <a:t>Deploy model as an advisory score in parallel with current underwriting for 3 months.</a:t>
            </a:r>
          </a:p>
        </p:txBody>
      </p:sp>
      <p:sp>
        <p:nvSpPr>
          <p:cNvPr name="TextBox 13" id="13"/>
          <p:cNvSpPr txBox="true"/>
          <p:nvPr/>
        </p:nvSpPr>
        <p:spPr>
          <a:xfrm rot="0">
            <a:off x="7765104" y="4058688"/>
            <a:ext cx="9540030" cy="435616"/>
          </a:xfrm>
          <a:prstGeom prst="rect">
            <a:avLst/>
          </a:prstGeom>
        </p:spPr>
        <p:txBody>
          <a:bodyPr anchor="t" rtlCol="false" tIns="0" lIns="0" bIns="0" rIns="0">
            <a:spAutoFit/>
          </a:bodyPr>
          <a:lstStyle/>
          <a:p>
            <a:pPr algn="l">
              <a:lnSpc>
                <a:spcPts val="3119"/>
              </a:lnSpc>
            </a:pPr>
            <a:r>
              <a:rPr lang="en-US" sz="2499" b="true">
                <a:solidFill>
                  <a:srgbClr val="000000"/>
                </a:solidFill>
                <a:latin typeface="Petrona Bold"/>
                <a:ea typeface="Petrona Bold"/>
                <a:cs typeface="Petrona Bold"/>
                <a:sym typeface="Petrona Bold"/>
              </a:rPr>
              <a:t>Recommended Follow-up</a:t>
            </a:r>
          </a:p>
        </p:txBody>
      </p:sp>
      <p:sp>
        <p:nvSpPr>
          <p:cNvPr name="TextBox 14" id="14"/>
          <p:cNvSpPr txBox="true"/>
          <p:nvPr/>
        </p:nvSpPr>
        <p:spPr>
          <a:xfrm rot="0">
            <a:off x="7765104" y="4666059"/>
            <a:ext cx="9540030" cy="2718044"/>
          </a:xfrm>
          <a:prstGeom prst="rect">
            <a:avLst/>
          </a:prstGeom>
        </p:spPr>
        <p:txBody>
          <a:bodyPr anchor="t" rtlCol="false" tIns="0" lIns="0" bIns="0" rIns="0">
            <a:spAutoFit/>
          </a:bodyPr>
          <a:lstStyle/>
          <a:p>
            <a:pPr algn="l" marL="458470" indent="-229235" lvl="1">
              <a:lnSpc>
                <a:spcPts val="3032"/>
              </a:lnSpc>
              <a:buFont typeface="Arial"/>
              <a:buChar char="•"/>
            </a:pPr>
            <a:r>
              <a:rPr lang="en-US" sz="1900">
                <a:solidFill>
                  <a:srgbClr val="272525"/>
                </a:solidFill>
                <a:latin typeface="Inter"/>
                <a:ea typeface="Inter"/>
                <a:cs typeface="Inter"/>
                <a:sym typeface="Inter"/>
              </a:rPr>
              <a:t>Run a larger validation with more diverse historical data to confirm generalization.</a:t>
            </a:r>
          </a:p>
          <a:p>
            <a:pPr algn="l" marL="458470" indent="-229235" lvl="1">
              <a:lnSpc>
                <a:spcPts val="3032"/>
              </a:lnSpc>
              <a:buFont typeface="Arial"/>
              <a:buChar char="•"/>
            </a:pPr>
            <a:r>
              <a:rPr lang="en-US" sz="1900">
                <a:solidFill>
                  <a:srgbClr val="272525"/>
                </a:solidFill>
                <a:latin typeface="Inter"/>
                <a:ea typeface="Inter"/>
                <a:cs typeface="Inter"/>
                <a:sym typeface="Inter"/>
              </a:rPr>
              <a:t>Implement explainability (SHAP or feature importances) for auditability and regulator readiness.</a:t>
            </a:r>
          </a:p>
          <a:p>
            <a:pPr algn="l" marL="458470" indent="-229235" lvl="1">
              <a:lnSpc>
                <a:spcPts val="3032"/>
              </a:lnSpc>
              <a:buFont typeface="Arial"/>
              <a:buChar char="•"/>
            </a:pPr>
            <a:r>
              <a:rPr lang="en-US" sz="1900">
                <a:solidFill>
                  <a:srgbClr val="272525"/>
                </a:solidFill>
                <a:latin typeface="Inter"/>
                <a:ea typeface="Inter"/>
                <a:cs typeface="Inter"/>
                <a:sym typeface="Inter"/>
              </a:rPr>
              <a:t>Set up monitoring for drift and regular retraining cadence.</a:t>
            </a:r>
          </a:p>
          <a:p>
            <a:pPr algn="l" marL="458470" indent="-229235" lvl="1">
              <a:lnSpc>
                <a:spcPts val="3032"/>
              </a:lnSpc>
              <a:buFont typeface="Arial"/>
              <a:buChar char="•"/>
            </a:pPr>
            <a:r>
              <a:rPr lang="en-US" sz="1900">
                <a:solidFill>
                  <a:srgbClr val="272525"/>
                </a:solidFill>
                <a:latin typeface="Inter"/>
                <a:ea typeface="Inter"/>
                <a:cs typeface="Inter"/>
                <a:sym typeface="Inter"/>
              </a:rPr>
              <a:t>Define human-in-the-loop thresholds where manual review is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DAHPd0uzm4Y</dc:identifier>
  <dcterms:modified xsi:type="dcterms:W3CDTF">2011-08-01T06:04:30Z</dcterms:modified>
  <cp:revision>1</cp:revision>
  <dc:title>Loan-Approval-Prediction.pptx</dc:title>
</cp:coreProperties>
</file>